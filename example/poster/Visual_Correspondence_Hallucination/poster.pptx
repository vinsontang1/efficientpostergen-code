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50657125" cy="28528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 snapToGrid="0" snapToObjects="1">
      <p:cViewPr varScale="1">
        <p:scale>
          <a:sx n="21" d="100"/>
          <a:sy n="21" d="100"/>
        </p:scale>
        <p:origin x="216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r_Title"/>
          <p:cNvSpPr txBox="1"/>
          <p:nvPr/>
        </p:nvSpPr>
        <p:spPr>
          <a:xfrm>
            <a:off x="0" y="0"/>
            <a:ext cx="50657760" cy="2852928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3" name="var_1_INTRODUCTION"/>
          <p:cNvSpPr txBox="1"/>
          <p:nvPr/>
        </p:nvSpPr>
        <p:spPr>
          <a:xfrm>
            <a:off x="0" y="2852928"/>
            <a:ext cx="16459266" cy="6737637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4" name="var_3_OUR_APPROACH"/>
          <p:cNvSpPr txBox="1"/>
          <p:nvPr/>
        </p:nvSpPr>
        <p:spPr>
          <a:xfrm>
            <a:off x="0" y="9590565"/>
            <a:ext cx="16459266" cy="18938714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5" name="var_4_EXPERIMENTS"/>
          <p:cNvSpPr txBox="1"/>
          <p:nvPr/>
        </p:nvSpPr>
        <p:spPr>
          <a:xfrm>
            <a:off x="16459266" y="2852928"/>
            <a:ext cx="15268235" cy="1624714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6" name="var_5_LIMITATIONS"/>
          <p:cNvSpPr txBox="1"/>
          <p:nvPr/>
        </p:nvSpPr>
        <p:spPr>
          <a:xfrm>
            <a:off x="16459266" y="19100070"/>
            <a:ext cx="15268235" cy="5031316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7" name="var_6_CONCLUSION"/>
          <p:cNvSpPr txBox="1"/>
          <p:nvPr/>
        </p:nvSpPr>
        <p:spPr>
          <a:xfrm>
            <a:off x="31727501" y="2852928"/>
            <a:ext cx="18930258" cy="15105269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8" name="var_7_ETHICS_STATEMENT"/>
          <p:cNvSpPr txBox="1"/>
          <p:nvPr/>
        </p:nvSpPr>
        <p:spPr>
          <a:xfrm>
            <a:off x="31727501" y="17958197"/>
            <a:ext cx="18930258" cy="6173189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9" name="var_8_REPRODUCIBILITY"/>
          <p:cNvSpPr txBox="1"/>
          <p:nvPr/>
        </p:nvSpPr>
        <p:spPr>
          <a:xfrm>
            <a:off x="16459266" y="24131387"/>
            <a:ext cx="14910284" cy="439789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10" name="var_ABSTRACT"/>
          <p:cNvSpPr txBox="1"/>
          <p:nvPr/>
        </p:nvSpPr>
        <p:spPr>
          <a:xfrm>
            <a:off x="31369550" y="24131387"/>
            <a:ext cx="19288209" cy="4397892"/>
          </a:xfrm>
          <a:prstGeom prst="rect">
            <a:avLst/>
          </a:prstGeom>
          <a:noFill/>
          <a:ln>
            <a:solidFill>
              <a:srgbClr val="2F5597"/>
            </a:solidFill>
            <a:prstDash val="solid"/>
          </a:ln>
        </p:spPr>
        <p:txBody>
          <a:bodyPr wrap="square">
            <a:normAutofit/>
          </a:bodyPr>
          <a:lstStyle/>
          <a:p>
            <a:endParaRPr/>
          </a:p>
          <a:p>
            <a:pPr algn="l"/>
            <a:endParaRPr/>
          </a:p>
        </p:txBody>
      </p:sp>
      <p:sp>
        <p:nvSpPr>
          <p:cNvPr id="11" name="p_Title__t0"/>
          <p:cNvSpPr txBox="1"/>
          <p:nvPr/>
        </p:nvSpPr>
        <p:spPr>
          <a:xfrm>
            <a:off x="109728" y="109728"/>
            <a:ext cx="50438304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77500" lnSpcReduction="20000"/>
          </a:bodyPr>
          <a:lstStyle/>
          <a:p>
            <a:endParaRPr/>
          </a:p>
          <a:p>
            <a:pPr algn="ctr">
              <a:defRPr sz="8500"/>
            </a:pPr>
            <a:r>
              <a:rPr b="1" i="0">
                <a:solidFill>
                  <a:srgbClr val="FFFFFF"/>
                </a:solidFill>
              </a:rPr>
              <a:t>Visual Correspondence Hallucination</a:t>
            </a:r>
          </a:p>
        </p:txBody>
      </p:sp>
      <p:sp>
        <p:nvSpPr>
          <p:cNvPr id="12" name="p_Title__t1"/>
          <p:cNvSpPr txBox="1"/>
          <p:nvPr/>
        </p:nvSpPr>
        <p:spPr>
          <a:xfrm>
            <a:off x="109728" y="1280160"/>
            <a:ext cx="50438304" cy="1463040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ctr">
              <a:defRPr sz="4800"/>
            </a:pPr>
            <a:r>
              <a:rPr b="0" i="0">
                <a:solidFill>
                  <a:srgbClr val="FFFFFF"/>
                </a:solidFill>
              </a:rPr>
              <a:t>Hugo Germain¹, Vincent Lepetit¹, Guillaume Bourmaud²</a:t>
            </a:r>
          </a:p>
          <a:p>
            <a:pPr algn="ctr">
              <a:defRPr sz="4400"/>
            </a:pPr>
            <a:r>
              <a:rPr b="0" i="0">
                <a:solidFill>
                  <a:srgbClr val="FFFFFF"/>
                </a:solidFill>
              </a:rPr>
              <a:t>¹ LIGM, École des Ponts, Univ Gustave Eiffel, CNRS, Marne-la-Vallee, France; ² IMS, University of Bordeaux, Bordeaux INP, CNRS, Bordeaux, France</a:t>
            </a:r>
          </a:p>
        </p:txBody>
      </p:sp>
      <p:sp>
        <p:nvSpPr>
          <p:cNvPr id="13" name="p_1_INTRODUCTION__t0"/>
          <p:cNvSpPr txBox="1"/>
          <p:nvPr/>
        </p:nvSpPr>
        <p:spPr>
          <a:xfrm>
            <a:off x="109728" y="2962656"/>
            <a:ext cx="16239810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7800"/>
            </a:pPr>
            <a:r>
              <a:rPr b="1" i="0">
                <a:solidFill>
                  <a:srgbClr val="FFFFFF"/>
                </a:solidFill>
              </a:rPr>
              <a:t>▶ Introduction</a:t>
            </a:r>
          </a:p>
        </p:txBody>
      </p:sp>
      <p:sp>
        <p:nvSpPr>
          <p:cNvPr id="14" name="p_1_INTRODUCTION__t1"/>
          <p:cNvSpPr txBox="1"/>
          <p:nvPr/>
        </p:nvSpPr>
        <p:spPr>
          <a:xfrm>
            <a:off x="109728" y="4133087"/>
            <a:ext cx="16239810" cy="534774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85000" lnSpcReduction="10000"/>
          </a:bodyPr>
          <a:lstStyle/>
          <a:p>
            <a:endParaRPr/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•Learn hallucination for non-covisible image regions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•Introduce NeurHal: detects &amp; generates correspondences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•Input: image pair + keypoints → output: per-keypoint target probs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•Architect &amp; loss via problem analysis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•Generalizes to unseen scenes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•Boosts pose estimation beyond SOTA matching</a:t>
            </a:r>
          </a:p>
        </p:txBody>
      </p:sp>
      <p:sp>
        <p:nvSpPr>
          <p:cNvPr id="15" name="p_3_OUR_APPROACH__t0"/>
          <p:cNvSpPr txBox="1"/>
          <p:nvPr/>
        </p:nvSpPr>
        <p:spPr>
          <a:xfrm>
            <a:off x="109728" y="9700293"/>
            <a:ext cx="16239810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7800"/>
            </a:pPr>
            <a:r>
              <a:rPr b="1" i="0">
                <a:solidFill>
                  <a:srgbClr val="FFFFFF"/>
                </a:solidFill>
              </a:rPr>
              <a:t>▶ Our Approach</a:t>
            </a:r>
          </a:p>
        </p:txBody>
      </p:sp>
      <p:sp>
        <p:nvSpPr>
          <p:cNvPr id="16" name="p_3_OUR_APPROACH__t1"/>
          <p:cNvSpPr txBox="1"/>
          <p:nvPr/>
        </p:nvSpPr>
        <p:spPr>
          <a:xfrm>
            <a:off x="109728" y="10870725"/>
            <a:ext cx="16239810" cy="536574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•Train network to localize correspondents despite occlusion and FOV gaps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•Predict per-keypoint probability maps on target image plane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•Unify identification, inpainting, and outpainting via NRE</a:t>
            </a:r>
          </a:p>
        </p:txBody>
      </p:sp>
      <p:sp>
        <p:nvSpPr>
          <p:cNvPr id="17" name="p_3_OUR_APPROACH__t2"/>
          <p:cNvSpPr txBox="1"/>
          <p:nvPr/>
        </p:nvSpPr>
        <p:spPr>
          <a:xfrm>
            <a:off x="109728" y="21883378"/>
            <a:ext cx="16239810" cy="653617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•Introduce memory-efficient NeurHal architecture with low-res maps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•Use CNN with stride-8 for efficient correspondence map computation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•Low-res maps enable pose estimation via correspondence hallucination</a:t>
            </a:r>
          </a:p>
        </p:txBody>
      </p:sp>
      <p:sp>
        <p:nvSpPr>
          <p:cNvPr id="18" name="p_4_EXPERIMENTS__t0"/>
          <p:cNvSpPr txBox="1"/>
          <p:nvPr/>
        </p:nvSpPr>
        <p:spPr>
          <a:xfrm>
            <a:off x="16568994" y="2962656"/>
            <a:ext cx="1504877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8000"/>
            </a:pPr>
            <a:r>
              <a:rPr b="1" i="0">
                <a:solidFill>
                  <a:srgbClr val="FFFFFF"/>
                </a:solidFill>
              </a:rPr>
              <a:t>▶ Experiments</a:t>
            </a:r>
          </a:p>
        </p:txBody>
      </p:sp>
      <p:sp>
        <p:nvSpPr>
          <p:cNvPr id="19" name="p_4_EXPERIMENTS__t1"/>
          <p:cNvSpPr txBox="1"/>
          <p:nvPr/>
        </p:nvSpPr>
        <p:spPr>
          <a:xfrm>
            <a:off x="16568994" y="4133087"/>
            <a:ext cx="15048779" cy="437797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85000" lnSpcReduction="200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•NeurHal hallucinates correspondences with strong cross-dataset generalization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•Outperforms baselines in inpainting and outpainting correspondences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•More accurate pose estimation under low-overlap conditions</a:t>
            </a:r>
          </a:p>
        </p:txBody>
      </p:sp>
      <p:sp>
        <p:nvSpPr>
          <p:cNvPr id="20" name="p_4_EXPERIMENTS__t2"/>
          <p:cNvSpPr txBox="1"/>
          <p:nvPr/>
        </p:nvSpPr>
        <p:spPr>
          <a:xfrm>
            <a:off x="16568994" y="13441937"/>
            <a:ext cx="15048779" cy="554840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lnSpcReduction="100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•SOTA slightly better under high-overlap due to higher-res maps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•Hallucinated outpainting boosts absolute pose robustness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•Overall, hallucination improves pose estimation performance</a:t>
            </a:r>
          </a:p>
        </p:txBody>
      </p:sp>
      <p:sp>
        <p:nvSpPr>
          <p:cNvPr id="21" name="p_5_LIMITATIONS__t0"/>
          <p:cNvSpPr txBox="1"/>
          <p:nvPr/>
        </p:nvSpPr>
        <p:spPr>
          <a:xfrm>
            <a:off x="16568994" y="19209798"/>
            <a:ext cx="15048779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8000"/>
            </a:pPr>
            <a:r>
              <a:rPr b="1" i="0">
                <a:solidFill>
                  <a:srgbClr val="FFFFFF"/>
                </a:solidFill>
              </a:rPr>
              <a:t>▶ Limitations</a:t>
            </a:r>
          </a:p>
        </p:txBody>
      </p:sp>
      <p:sp>
        <p:nvSpPr>
          <p:cNvPr id="22" name="p_5_LIMITATIONS__t1"/>
          <p:cNvSpPr txBox="1"/>
          <p:nvPr/>
        </p:nvSpPr>
        <p:spPr>
          <a:xfrm>
            <a:off x="16568994" y="20380230"/>
            <a:ext cx="15048779" cy="364142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77500" lnSpcReduction="200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•Inpainted maps less peaked than outpainted counterparts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•Architecture limits resolution due to quadratic attention cost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•Finite map extent causes missing correspondents and errors</a:t>
            </a:r>
          </a:p>
        </p:txBody>
      </p:sp>
      <p:sp>
        <p:nvSpPr>
          <p:cNvPr id="23" name="p_6_CONCLUSION__t0"/>
          <p:cNvSpPr txBox="1"/>
          <p:nvPr/>
        </p:nvSpPr>
        <p:spPr>
          <a:xfrm>
            <a:off x="31837229" y="2962656"/>
            <a:ext cx="1871080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8000"/>
            </a:pPr>
            <a:r>
              <a:rPr b="1" i="0">
                <a:solidFill>
                  <a:srgbClr val="FFFFFF"/>
                </a:solidFill>
              </a:rPr>
              <a:t>▶ Conclusion</a:t>
            </a:r>
          </a:p>
        </p:txBody>
      </p:sp>
      <p:sp>
        <p:nvSpPr>
          <p:cNvPr id="24" name="p_6_CONCLUSION__t1"/>
          <p:cNvSpPr txBox="1"/>
          <p:nvPr/>
        </p:nvSpPr>
        <p:spPr>
          <a:xfrm>
            <a:off x="31837229" y="4133087"/>
            <a:ext cx="18710802" cy="242708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70000" lnSpcReduction="200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•Introduces first method to learn inpaint and outpaint correspondences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•Analyzes the task to choose loss and design architecture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•Demonstrates strong generalization across unseen indoor/outdoor scenes and datasets</a:t>
            </a:r>
          </a:p>
        </p:txBody>
      </p:sp>
      <p:sp>
        <p:nvSpPr>
          <p:cNvPr id="25" name="p_6_CONCLUSION__t2"/>
          <p:cNvSpPr txBox="1"/>
          <p:nvPr/>
        </p:nvSpPr>
        <p:spPr>
          <a:xfrm>
            <a:off x="31837229" y="14250955"/>
            <a:ext cx="18710802" cy="359751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10000"/>
          </a:bodyPr>
          <a:lstStyle/>
          <a:p>
            <a:endParaRPr/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•Validates on ScanNet, MegaDepth, ETH3D, and NYU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•Boosts absolute pose estimation; outpainted correspondences outperform SOTA feature matching</a:t>
            </a:r>
          </a:p>
          <a:p>
            <a:pPr algn="l">
              <a:defRPr sz="6000"/>
            </a:pPr>
            <a:r>
              <a:rPr b="0" i="0">
                <a:solidFill>
                  <a:srgbClr val="2F5597"/>
                </a:solidFill>
              </a:rPr>
              <a:t>•Enables robust SfM when few images are available</a:t>
            </a:r>
          </a:p>
        </p:txBody>
      </p:sp>
      <p:sp>
        <p:nvSpPr>
          <p:cNvPr id="26" name="p_7_ETHICS_STATEMENT__t0"/>
          <p:cNvSpPr txBox="1"/>
          <p:nvPr/>
        </p:nvSpPr>
        <p:spPr>
          <a:xfrm>
            <a:off x="31837229" y="18067925"/>
            <a:ext cx="18710802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000"/>
            </a:pPr>
            <a:r>
              <a:rPr b="1" i="0">
                <a:solidFill>
                  <a:srgbClr val="FFFFFF"/>
                </a:solidFill>
              </a:rPr>
              <a:t>▶ Ethics Statement</a:t>
            </a:r>
          </a:p>
        </p:txBody>
      </p:sp>
      <p:sp>
        <p:nvSpPr>
          <p:cNvPr id="27" name="p_7_ETHICS_STATEMENT__t1"/>
          <p:cNvSpPr txBox="1"/>
          <p:nvPr/>
        </p:nvSpPr>
        <p:spPr>
          <a:xfrm>
            <a:off x="31837229" y="19238357"/>
            <a:ext cx="18710802" cy="478330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/>
          </a:bodyPr>
          <a:lstStyle/>
          <a:p>
            <a:endParaRPr/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•Enhances vision-based industrial apps, especially GPS-denied localization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•Advances robotics and AR relocalization for safer systems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•Enables autonomous driving and drone search-and-rescue missions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•Risks misuse: weaponized UAVs, privacy via environmental re-identification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•Calls for ethical debate and regulatory oversight</a:t>
            </a:r>
          </a:p>
          <a:p>
            <a:pPr algn="l">
              <a:defRPr sz="5000"/>
            </a:pPr>
            <a:r>
              <a:rPr b="0" i="0">
                <a:solidFill>
                  <a:srgbClr val="2F5597"/>
                </a:solidFill>
              </a:rPr>
              <a:t>•Societal benefits outweigh anticipated harms</a:t>
            </a:r>
          </a:p>
        </p:txBody>
      </p:sp>
      <p:sp>
        <p:nvSpPr>
          <p:cNvPr id="28" name="p_8_REPRODUCIBILITY__t0"/>
          <p:cNvSpPr txBox="1"/>
          <p:nvPr/>
        </p:nvSpPr>
        <p:spPr>
          <a:xfrm>
            <a:off x="16568994" y="24241115"/>
            <a:ext cx="14690828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92500" lnSpcReduction="20000"/>
          </a:bodyPr>
          <a:lstStyle/>
          <a:p>
            <a:endParaRPr/>
          </a:p>
          <a:p>
            <a:pPr algn="l">
              <a:defRPr sz="7200"/>
            </a:pPr>
            <a:r>
              <a:rPr b="1" i="0">
                <a:solidFill>
                  <a:srgbClr val="FFFFFF"/>
                </a:solidFill>
              </a:rPr>
              <a:t>▶ Reproducibility</a:t>
            </a:r>
          </a:p>
        </p:txBody>
      </p:sp>
      <p:sp>
        <p:nvSpPr>
          <p:cNvPr id="29" name="p_8_REPRODUCIBILITY__t1"/>
          <p:cNvSpPr txBox="1"/>
          <p:nvPr/>
        </p:nvSpPr>
        <p:spPr>
          <a:xfrm>
            <a:off x="16568994" y="25411547"/>
            <a:ext cx="14690828" cy="300800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>
            <a:endParaRPr/>
          </a:p>
          <a:p>
            <a:pPr algn="l">
              <a:defRPr sz="5200"/>
            </a:pPr>
            <a:r>
              <a:rPr b="0" i="0">
                <a:solidFill>
                  <a:srgbClr val="2F5597"/>
                </a:solidFill>
              </a:rPr>
              <a:t>•Release NeurHal architecture + pretrained weights</a:t>
            </a:r>
          </a:p>
          <a:p>
            <a:pPr algn="l">
              <a:defRPr sz="5200"/>
            </a:pPr>
            <a:r>
              <a:rPr b="0" i="0">
                <a:solidFill>
                  <a:srgbClr val="2F5597"/>
                </a:solidFill>
              </a:rPr>
              <a:t>•Provide eval script for quick qualitative results</a:t>
            </a:r>
          </a:p>
          <a:p>
            <a:pPr algn="l">
              <a:defRPr sz="5200"/>
            </a:pPr>
            <a:r>
              <a:rPr b="0" i="0">
                <a:solidFill>
                  <a:srgbClr val="2F5597"/>
                </a:solidFill>
              </a:rPr>
              <a:t>•Share notebook demoing indoor smartphone use</a:t>
            </a:r>
          </a:p>
        </p:txBody>
      </p:sp>
      <p:sp>
        <p:nvSpPr>
          <p:cNvPr id="30" name="p_ABSTRACT__t0"/>
          <p:cNvSpPr txBox="1"/>
          <p:nvPr/>
        </p:nvSpPr>
        <p:spPr>
          <a:xfrm>
            <a:off x="31479278" y="24241115"/>
            <a:ext cx="19068753" cy="1170432"/>
          </a:xfrm>
          <a:prstGeom prst="rect">
            <a:avLst/>
          </a:prstGeom>
          <a:solidFill>
            <a:srgbClr val="2F5597"/>
          </a:solidFill>
        </p:spPr>
        <p:txBody>
          <a:bodyPr wrap="square" anchor="b">
            <a:normAutofit fontScale="85000" lnSpcReduction="20000"/>
          </a:bodyPr>
          <a:lstStyle/>
          <a:p>
            <a:endParaRPr/>
          </a:p>
          <a:p>
            <a:pPr algn="l">
              <a:defRPr sz="7800"/>
            </a:pPr>
            <a:r>
              <a:rPr b="1" i="0">
                <a:solidFill>
                  <a:srgbClr val="FFFFFF"/>
                </a:solidFill>
              </a:rPr>
              <a:t>▶ Abstract</a:t>
            </a:r>
          </a:p>
        </p:txBody>
      </p:sp>
      <p:sp>
        <p:nvSpPr>
          <p:cNvPr id="31" name="p_ABSTRACT__t1"/>
          <p:cNvSpPr txBox="1"/>
          <p:nvPr/>
        </p:nvSpPr>
        <p:spPr>
          <a:xfrm>
            <a:off x="31479278" y="25411547"/>
            <a:ext cx="19068753" cy="300800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 fontScale="92500" lnSpcReduction="20000"/>
          </a:bodyPr>
          <a:lstStyle/>
          <a:p>
            <a:endParaRPr/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•Predicts correspondences despite occlusion or FOV limits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•Outputs peaked keypoint probability maps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•Generalizes to unseen scenes during training</a:t>
            </a:r>
          </a:p>
          <a:p>
            <a:pPr algn="l">
              <a:defRPr sz="5800"/>
            </a:pPr>
            <a:r>
              <a:rPr b="0" i="0">
                <a:solidFill>
                  <a:srgbClr val="2F5597"/>
                </a:solidFill>
              </a:rPr>
              <a:t>•Enhances robustness for absolute pose estimation vs. SOTA</a:t>
            </a:r>
          </a:p>
        </p:txBody>
      </p:sp>
      <p:pic>
        <p:nvPicPr>
          <p:cNvPr id="32" name="p_3_OUR_APPROACH__f0" descr="e56121ae4e1b0213bc6ec22ad9d3eb848d05536aab45ac40f9c4597f56d7a45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09" y="16236466"/>
            <a:ext cx="12991848" cy="5646912"/>
          </a:xfrm>
          <a:prstGeom prst="rect">
            <a:avLst/>
          </a:prstGeom>
        </p:spPr>
      </p:pic>
      <p:pic>
        <p:nvPicPr>
          <p:cNvPr id="33" name="p_4_EXPERIMENTS__f0" descr="3eca77fc7db3b2aa0b2a65b9b8b56216be5808ce86cdad8e0c817e890c27ff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3872" y="8511061"/>
            <a:ext cx="12039023" cy="4930876"/>
          </a:xfrm>
          <a:prstGeom prst="rect">
            <a:avLst/>
          </a:prstGeom>
        </p:spPr>
      </p:pic>
      <p:pic>
        <p:nvPicPr>
          <p:cNvPr id="34" name="p_6_CONCLUSION__f0" descr="ad147a79548fc5a572e802d27997f64ed66cb5415c25753f8aaccc77f74079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8309" y="6560170"/>
            <a:ext cx="14968642" cy="7690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408</Words>
  <Application>Microsoft Macintosh PowerPoint</Application>
  <PresentationFormat>自定义</PresentationFormat>
  <Paragraphs>72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T174421</cp:lastModifiedBy>
  <cp:revision>2</cp:revision>
  <dcterms:created xsi:type="dcterms:W3CDTF">2013-01-27T09:14:16Z</dcterms:created>
  <dcterms:modified xsi:type="dcterms:W3CDTF">2026-02-24T11:07:46Z</dcterms:modified>
  <cp:category/>
</cp:coreProperties>
</file>