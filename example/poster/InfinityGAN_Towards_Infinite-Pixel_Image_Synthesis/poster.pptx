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50693638" cy="28492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37"/>
  </p:normalViewPr>
  <p:slideViewPr>
    <p:cSldViewPr snapToGrid="0" snapToObjects="1">
      <p:cViewPr varScale="1">
        <p:scale>
          <a:sx n="21" d="100"/>
          <a:sy n="21" d="100"/>
        </p:scale>
        <p:origin x="208" y="6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ar_Title"/>
          <p:cNvSpPr txBox="1"/>
          <p:nvPr/>
        </p:nvSpPr>
        <p:spPr>
          <a:xfrm>
            <a:off x="0" y="0"/>
            <a:ext cx="50694336" cy="2849270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3" name="var_1_INTRODUCTION"/>
          <p:cNvSpPr txBox="1"/>
          <p:nvPr/>
        </p:nvSpPr>
        <p:spPr>
          <a:xfrm>
            <a:off x="0" y="2849270"/>
            <a:ext cx="12837727" cy="6097594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4" name="var_2_RELATED_WORK"/>
          <p:cNvSpPr txBox="1"/>
          <p:nvPr/>
        </p:nvSpPr>
        <p:spPr>
          <a:xfrm>
            <a:off x="0" y="8946865"/>
            <a:ext cx="12837727" cy="8045883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5" name="var_3_PROPOSED_METHOD"/>
          <p:cNvSpPr txBox="1"/>
          <p:nvPr/>
        </p:nvSpPr>
        <p:spPr>
          <a:xfrm>
            <a:off x="12837727" y="2849270"/>
            <a:ext cx="19878978" cy="14143477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6" name="var_4_EXPERIMENTAL_RESULTS"/>
          <p:cNvSpPr txBox="1"/>
          <p:nvPr/>
        </p:nvSpPr>
        <p:spPr>
          <a:xfrm>
            <a:off x="0" y="16992748"/>
            <a:ext cx="19359751" cy="11499955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7" name="var_5_CONCLUSIONS"/>
          <p:cNvSpPr txBox="1"/>
          <p:nvPr/>
        </p:nvSpPr>
        <p:spPr>
          <a:xfrm>
            <a:off x="19359751" y="16992748"/>
            <a:ext cx="13356955" cy="7733114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8" name="var_6_ACKNOWLEDGEMENTS"/>
          <p:cNvSpPr txBox="1"/>
          <p:nvPr/>
        </p:nvSpPr>
        <p:spPr>
          <a:xfrm>
            <a:off x="19359751" y="24725862"/>
            <a:ext cx="13356955" cy="3766841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9" name="var_7_ETHICS_STATEMENT"/>
          <p:cNvSpPr txBox="1"/>
          <p:nvPr/>
        </p:nvSpPr>
        <p:spPr>
          <a:xfrm>
            <a:off x="32716706" y="2849270"/>
            <a:ext cx="17977629" cy="4671948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10" name="var_Abstract"/>
          <p:cNvSpPr txBox="1"/>
          <p:nvPr/>
        </p:nvSpPr>
        <p:spPr>
          <a:xfrm>
            <a:off x="32716706" y="7521219"/>
            <a:ext cx="17977629" cy="20971484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11" name="p_Title__t0"/>
          <p:cNvSpPr txBox="1"/>
          <p:nvPr/>
        </p:nvSpPr>
        <p:spPr>
          <a:xfrm>
            <a:off x="109728" y="109728"/>
            <a:ext cx="50474880" cy="1168806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77500" lnSpcReduction="20000"/>
          </a:bodyPr>
          <a:lstStyle/>
          <a:p>
            <a:endParaRPr/>
          </a:p>
          <a:p>
            <a:pPr algn="ctr">
              <a:defRPr sz="8500"/>
            </a:pPr>
            <a:r>
              <a:rPr b="1" i="0">
                <a:solidFill>
                  <a:srgbClr val="FFFFFF"/>
                </a:solidFill>
              </a:rPr>
              <a:t>InfinityGAN Towards Infinite-Pixel Image Synthesis</a:t>
            </a:r>
          </a:p>
        </p:txBody>
      </p:sp>
      <p:sp>
        <p:nvSpPr>
          <p:cNvPr id="12" name="p_Title__t1"/>
          <p:cNvSpPr txBox="1"/>
          <p:nvPr/>
        </p:nvSpPr>
        <p:spPr>
          <a:xfrm>
            <a:off x="109728" y="1278534"/>
            <a:ext cx="50474880" cy="1461008"/>
          </a:xfrm>
          <a:prstGeom prst="rect">
            <a:avLst/>
          </a:prstGeom>
          <a:solidFill>
            <a:srgbClr val="2F5597"/>
          </a:solidFill>
        </p:spPr>
        <p:txBody>
          <a:bodyPr wrap="square">
            <a:normAutofit fontScale="92500" lnSpcReduction="20000"/>
          </a:bodyPr>
          <a:lstStyle/>
          <a:p>
            <a:endParaRPr/>
          </a:p>
          <a:p>
            <a:pPr algn="ctr">
              <a:defRPr sz="4800"/>
            </a:pPr>
            <a:r>
              <a:rPr b="0" i="0">
                <a:solidFill>
                  <a:srgbClr val="FFFFFF"/>
                </a:solidFill>
              </a:rPr>
              <a:t>Chieh Hubert Lin¹, Hsin-Ying Lee², Yen-Chi Cheng³, Sergey Tulyakov², Ming-Hsuan Yang¹⁴⁵</a:t>
            </a:r>
          </a:p>
          <a:p>
            <a:pPr algn="ctr">
              <a:defRPr sz="4400"/>
            </a:pPr>
            <a:r>
              <a:rPr b="0" i="0">
                <a:solidFill>
                  <a:srgbClr val="FFFFFF"/>
                </a:solidFill>
              </a:rPr>
              <a:t>¹ UC Merced; ² Snap Inc.; ³ Carnegie Mellon University; ⁴ Yonsei University; ⁵ Google Research</a:t>
            </a:r>
          </a:p>
        </p:txBody>
      </p:sp>
      <p:sp>
        <p:nvSpPr>
          <p:cNvPr id="13" name="p_1_INTRODUCTION__t0"/>
          <p:cNvSpPr txBox="1"/>
          <p:nvPr/>
        </p:nvSpPr>
        <p:spPr>
          <a:xfrm>
            <a:off x="109728" y="2958998"/>
            <a:ext cx="12618271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92500" lnSpcReduction="20000"/>
          </a:bodyPr>
          <a:lstStyle/>
          <a:p>
            <a:endParaRPr/>
          </a:p>
          <a:p>
            <a:pPr algn="l">
              <a:defRPr sz="7000"/>
            </a:pPr>
            <a:r>
              <a:rPr b="1" i="0">
                <a:solidFill>
                  <a:srgbClr val="FFFFFF"/>
                </a:solidFill>
              </a:rPr>
              <a:t>▶ Introduction</a:t>
            </a:r>
          </a:p>
        </p:txBody>
      </p:sp>
      <p:sp>
        <p:nvSpPr>
          <p:cNvPr id="14" name="p_1_INTRODUCTION__t1"/>
          <p:cNvSpPr txBox="1"/>
          <p:nvPr/>
        </p:nvSpPr>
        <p:spPr>
          <a:xfrm>
            <a:off x="109728" y="4129430"/>
            <a:ext cx="12618271" cy="4707706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 lnSpcReduction="10000"/>
          </a:bodyPr>
          <a:lstStyle/>
          <a:p>
            <a:endParaRPr/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•Aim to generate infinite-pixel images from partial observations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•Train a patch-based generator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•Infer arbitrarily large images at test time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•Synthesize globally plausible structures and heterogeneous textures</a:t>
            </a:r>
          </a:p>
        </p:txBody>
      </p:sp>
      <p:sp>
        <p:nvSpPr>
          <p:cNvPr id="15" name="p_2_RELATED_WORK__t0"/>
          <p:cNvSpPr txBox="1"/>
          <p:nvPr/>
        </p:nvSpPr>
        <p:spPr>
          <a:xfrm>
            <a:off x="109728" y="9056593"/>
            <a:ext cx="12618271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92500" lnSpcReduction="20000"/>
          </a:bodyPr>
          <a:lstStyle/>
          <a:p>
            <a:endParaRPr/>
          </a:p>
          <a:p>
            <a:pPr algn="l">
              <a:defRPr sz="7000"/>
            </a:pPr>
            <a:r>
              <a:rPr b="1" i="0">
                <a:solidFill>
                  <a:srgbClr val="FFFFFF"/>
                </a:solidFill>
              </a:rPr>
              <a:t>▶ Related Work</a:t>
            </a:r>
          </a:p>
        </p:txBody>
      </p:sp>
      <p:sp>
        <p:nvSpPr>
          <p:cNvPr id="16" name="p_2_RELATED_WORK__t1"/>
          <p:cNvSpPr txBox="1"/>
          <p:nvPr/>
        </p:nvSpPr>
        <p:spPr>
          <a:xfrm>
            <a:off x="109728" y="10227025"/>
            <a:ext cx="12618271" cy="6655995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>
            <a:endParaRPr/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•Latent models mostly fixed-size; 1024×1024 achieved but poor size generalization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•Patch-based GANs synthesize by parts; repeat statistics and barely extrapolate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•ALIS concurrently targets infinite-pixel images via horizontal latent in-betweening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•Autoregressive models can scale arbitrarily; infinite-pixel synthesis remains unexplored</a:t>
            </a:r>
          </a:p>
        </p:txBody>
      </p:sp>
      <p:sp>
        <p:nvSpPr>
          <p:cNvPr id="17" name="p_3_PROPOSED_METHOD__t0"/>
          <p:cNvSpPr txBox="1"/>
          <p:nvPr/>
        </p:nvSpPr>
        <p:spPr>
          <a:xfrm>
            <a:off x="12947455" y="2958998"/>
            <a:ext cx="19659522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92500" lnSpcReduction="20000"/>
          </a:bodyPr>
          <a:lstStyle/>
          <a:p>
            <a:endParaRPr/>
          </a:p>
          <a:p>
            <a:pPr algn="l">
              <a:defRPr sz="7000"/>
            </a:pPr>
            <a:r>
              <a:rPr b="1" i="0">
                <a:solidFill>
                  <a:srgbClr val="FFFFFF"/>
                </a:solidFill>
              </a:rPr>
              <a:t>▶ Proposed Method</a:t>
            </a:r>
          </a:p>
        </p:txBody>
      </p:sp>
      <p:sp>
        <p:nvSpPr>
          <p:cNvPr id="18" name="p_3_PROPOSED_METHOD__t1"/>
          <p:cNvSpPr txBox="1"/>
          <p:nvPr/>
        </p:nvSpPr>
        <p:spPr>
          <a:xfrm>
            <a:off x="12947455" y="4129430"/>
            <a:ext cx="19659522" cy="3196665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 lnSpcReduction="10000"/>
          </a:bodyPr>
          <a:lstStyle/>
          <a:p>
            <a:endParaRPr/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•Introduces InfinityGAN with structure and texture synthesizers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•Uses implicit G_S to sample coordinates and build local structure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•Conditions on coordinates via landscape prior: tanh vertical, sinusoidal horizontal</a:t>
            </a:r>
          </a:p>
        </p:txBody>
      </p:sp>
      <p:sp>
        <p:nvSpPr>
          <p:cNvPr id="19" name="p_3_PROPOSED_METHOD__t2"/>
          <p:cNvSpPr txBox="1"/>
          <p:nvPr/>
        </p:nvSpPr>
        <p:spPr>
          <a:xfrm>
            <a:off x="12947455" y="12515922"/>
            <a:ext cx="19659522" cy="436709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 fontScale="92500"/>
          </a:bodyPr>
          <a:lstStyle/>
          <a:p>
            <a:endParaRPr/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•Modifies StyleGAN2: replace constant input, inject style, remove zero-padding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•Achieves spatially independent generation and consistent per-location synthesis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•Enables patch queries to assemble arbitrarily large images with constant memory</a:t>
            </a:r>
          </a:p>
        </p:txBody>
      </p:sp>
      <p:sp>
        <p:nvSpPr>
          <p:cNvPr id="20" name="p_4_EXPERIMENTAL_RESULTS__t0"/>
          <p:cNvSpPr txBox="1"/>
          <p:nvPr/>
        </p:nvSpPr>
        <p:spPr>
          <a:xfrm>
            <a:off x="109728" y="17102476"/>
            <a:ext cx="19140295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92500" lnSpcReduction="20000"/>
          </a:bodyPr>
          <a:lstStyle/>
          <a:p>
            <a:endParaRPr/>
          </a:p>
          <a:p>
            <a:pPr algn="l">
              <a:defRPr sz="7000"/>
            </a:pPr>
            <a:r>
              <a:rPr b="1" i="0">
                <a:solidFill>
                  <a:srgbClr val="FFFFFF"/>
                </a:solidFill>
              </a:rPr>
              <a:t>▶ Experimental Results</a:t>
            </a:r>
          </a:p>
        </p:txBody>
      </p:sp>
      <p:sp>
        <p:nvSpPr>
          <p:cNvPr id="21" name="p_4_EXPERIMENTAL_RESULTS__t1"/>
          <p:cNvSpPr txBox="1"/>
          <p:nvPr/>
        </p:nvSpPr>
        <p:spPr>
          <a:xfrm>
            <a:off x="109728" y="18272908"/>
            <a:ext cx="19140295" cy="273923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>
            <a:endParaRPr/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•Introduces ScaleInv FID for larger-than-training evaluation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•InfinityGAN composes 121 patches into seamless 1024x1024 images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•Delivers reasonable global structure; baselines fail and FID surges</a:t>
            </a:r>
          </a:p>
        </p:txBody>
      </p:sp>
      <p:sp>
        <p:nvSpPr>
          <p:cNvPr id="22" name="p_4_EXPERIMENTAL_RESULTS__t2"/>
          <p:cNvSpPr txBox="1"/>
          <p:nvPr/>
        </p:nvSpPr>
        <p:spPr>
          <a:xfrm>
            <a:off x="109728" y="24473313"/>
            <a:ext cx="19140295" cy="390966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>
            <a:endParaRPr/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•Wins 90%+ preference in 2AFC user study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•Enables arbitrary-size outpainting without seams; supports multimodal sampling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•Uses latent inversion and parallel batching; achieves up to 7.2x speedup</a:t>
            </a:r>
          </a:p>
        </p:txBody>
      </p:sp>
      <p:sp>
        <p:nvSpPr>
          <p:cNvPr id="23" name="p_5_CONCLUSIONS__t0"/>
          <p:cNvSpPr txBox="1"/>
          <p:nvPr/>
        </p:nvSpPr>
        <p:spPr>
          <a:xfrm>
            <a:off x="19469479" y="17102476"/>
            <a:ext cx="13137499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92500" lnSpcReduction="20000"/>
          </a:bodyPr>
          <a:lstStyle/>
          <a:p>
            <a:endParaRPr/>
          </a:p>
          <a:p>
            <a:pPr algn="l">
              <a:defRPr sz="7000"/>
            </a:pPr>
            <a:r>
              <a:rPr b="1" i="0">
                <a:solidFill>
                  <a:srgbClr val="FFFFFF"/>
                </a:solidFill>
              </a:rPr>
              <a:t>▶ Conclusions</a:t>
            </a:r>
          </a:p>
        </p:txBody>
      </p:sp>
      <p:sp>
        <p:nvSpPr>
          <p:cNvPr id="24" name="p_5_CONCLUSIONS__t1"/>
          <p:cNvSpPr txBox="1"/>
          <p:nvPr/>
        </p:nvSpPr>
        <p:spPr>
          <a:xfrm>
            <a:off x="19469479" y="18272908"/>
            <a:ext cx="13137499" cy="6343226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 fontScale="92500" lnSpcReduction="10000"/>
          </a:bodyPr>
          <a:lstStyle/>
          <a:p>
            <a:endParaRPr/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•Propose InfinityGAN for infinite-pixel image synthesis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•Demonstrate applications: image outpainting and inbetweening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•Dataset mixes FoVs and distances, causing scale-composition artifacts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•Foreground leaves induce green textures; model hallucinates trees in sky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•Slight FID drop versus StyleGAN2; suspect joint-training convergence issues</a:t>
            </a:r>
          </a:p>
        </p:txBody>
      </p:sp>
      <p:sp>
        <p:nvSpPr>
          <p:cNvPr id="25" name="p_6_ACKNOWLEDGEMENTS__t0"/>
          <p:cNvSpPr txBox="1"/>
          <p:nvPr/>
        </p:nvSpPr>
        <p:spPr>
          <a:xfrm>
            <a:off x="19469479" y="24835590"/>
            <a:ext cx="13137499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92500" lnSpcReduction="20000"/>
          </a:bodyPr>
          <a:lstStyle/>
          <a:p>
            <a:endParaRPr/>
          </a:p>
          <a:p>
            <a:pPr algn="l">
              <a:defRPr sz="7000"/>
            </a:pPr>
            <a:r>
              <a:rPr b="1" i="0">
                <a:solidFill>
                  <a:srgbClr val="FFFFFF"/>
                </a:solidFill>
              </a:rPr>
              <a:t>▶ Acknowledgements</a:t>
            </a:r>
          </a:p>
        </p:txBody>
      </p:sp>
      <p:sp>
        <p:nvSpPr>
          <p:cNvPr id="26" name="p_6_ACKNOWLEDGEMENTS__t1"/>
          <p:cNvSpPr txBox="1"/>
          <p:nvPr/>
        </p:nvSpPr>
        <p:spPr>
          <a:xfrm>
            <a:off x="19469479" y="26006022"/>
            <a:ext cx="13137499" cy="2376953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>
            <a:endParaRPr/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•Supported by NSF CAREER Grant 1149783 and Snap Inc. gift</a:t>
            </a:r>
          </a:p>
        </p:txBody>
      </p:sp>
      <p:sp>
        <p:nvSpPr>
          <p:cNvPr id="27" name="p_7_ETHICS_STATEMENT__t0"/>
          <p:cNvSpPr txBox="1"/>
          <p:nvPr/>
        </p:nvSpPr>
        <p:spPr>
          <a:xfrm>
            <a:off x="32826434" y="2958998"/>
            <a:ext cx="17758173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92500" lnSpcReduction="20000"/>
          </a:bodyPr>
          <a:lstStyle/>
          <a:p>
            <a:endParaRPr dirty="0"/>
          </a:p>
          <a:p>
            <a:pPr algn="l">
              <a:defRPr sz="7000"/>
            </a:pPr>
            <a:r>
              <a:rPr b="1" i="0" dirty="0">
                <a:solidFill>
                  <a:srgbClr val="FFFFFF"/>
                </a:solidFill>
              </a:rPr>
              <a:t>▶ Ethics Statement</a:t>
            </a:r>
          </a:p>
        </p:txBody>
      </p:sp>
      <p:sp>
        <p:nvSpPr>
          <p:cNvPr id="28" name="p_7_ETHICS_STATEMENT__t1"/>
          <p:cNvSpPr txBox="1"/>
          <p:nvPr/>
        </p:nvSpPr>
        <p:spPr>
          <a:xfrm>
            <a:off x="32826434" y="4129430"/>
            <a:ext cx="17758173" cy="328206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 fontScale="92500" lnSpcReduction="20000"/>
          </a:bodyPr>
          <a:lstStyle/>
          <a:p>
            <a:endParaRPr dirty="0"/>
          </a:p>
          <a:p>
            <a:pPr algn="l">
              <a:defRPr sz="5000"/>
            </a:pPr>
            <a:r>
              <a:rPr b="0" i="0" dirty="0">
                <a:solidFill>
                  <a:srgbClr val="2F5597"/>
                </a:solidFill>
              </a:rPr>
              <a:t>•Adhere to ICLR Code of Ethics</a:t>
            </a:r>
          </a:p>
          <a:p>
            <a:pPr algn="l">
              <a:defRPr sz="5000"/>
            </a:pPr>
            <a:r>
              <a:rPr b="0" i="0" dirty="0">
                <a:solidFill>
                  <a:srgbClr val="2F5597"/>
                </a:solidFill>
              </a:rPr>
              <a:t>•Acknowledge generative modeling misuse risks</a:t>
            </a:r>
          </a:p>
          <a:p>
            <a:pPr algn="l">
              <a:defRPr sz="5000"/>
            </a:pPr>
            <a:r>
              <a:rPr b="0" i="0" dirty="0">
                <a:solidFill>
                  <a:srgbClr val="2F5597"/>
                </a:solidFill>
              </a:rPr>
              <a:t>•Do not enhance fine-grained manipulation or human hallucination</a:t>
            </a:r>
          </a:p>
          <a:p>
            <a:pPr algn="l">
              <a:defRPr sz="5000"/>
            </a:pPr>
            <a:r>
              <a:rPr b="0" i="0" dirty="0">
                <a:solidFill>
                  <a:srgbClr val="2F5597"/>
                </a:solidFill>
              </a:rPr>
              <a:t>•Note potential misuse for fake scenery images</a:t>
            </a:r>
          </a:p>
          <a:p>
            <a:pPr algn="l">
              <a:defRPr sz="5000"/>
            </a:pPr>
            <a:r>
              <a:rPr b="0" i="0" dirty="0">
                <a:solidFill>
                  <a:srgbClr val="2F5597"/>
                </a:solidFill>
              </a:rPr>
              <a:t>•Commit to ethical modeling and image forensics</a:t>
            </a:r>
          </a:p>
        </p:txBody>
      </p:sp>
      <p:sp>
        <p:nvSpPr>
          <p:cNvPr id="29" name="p_Abstract__t0"/>
          <p:cNvSpPr txBox="1"/>
          <p:nvPr/>
        </p:nvSpPr>
        <p:spPr>
          <a:xfrm>
            <a:off x="32826434" y="7630947"/>
            <a:ext cx="17758173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92500" lnSpcReduction="20000"/>
          </a:bodyPr>
          <a:lstStyle/>
          <a:p>
            <a:endParaRPr/>
          </a:p>
          <a:p>
            <a:pPr algn="l">
              <a:defRPr sz="7400"/>
            </a:pPr>
            <a:r>
              <a:rPr b="1" i="0">
                <a:solidFill>
                  <a:srgbClr val="FFFFFF"/>
                </a:solidFill>
              </a:rPr>
              <a:t>▶ Abstract</a:t>
            </a:r>
          </a:p>
        </p:txBody>
      </p:sp>
      <p:sp>
        <p:nvSpPr>
          <p:cNvPr id="30" name="p_Abstract__t1"/>
          <p:cNvSpPr txBox="1"/>
          <p:nvPr/>
        </p:nvSpPr>
        <p:spPr>
          <a:xfrm>
            <a:off x="32826434" y="8801379"/>
            <a:ext cx="17758173" cy="537072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>
            <a:endParaRPr/>
          </a:p>
          <a:p>
            <a:pPr algn="l">
              <a:defRPr sz="5400"/>
            </a:pPr>
            <a:r>
              <a:rPr b="0" i="0">
                <a:solidFill>
                  <a:srgbClr val="2F5597"/>
                </a:solidFill>
              </a:rPr>
              <a:t>•Proposes InfinityGAN for arbitrary-sized image generation</a:t>
            </a:r>
          </a:p>
          <a:p>
            <a:pPr algn="l">
              <a:defRPr sz="5400"/>
            </a:pPr>
            <a:r>
              <a:rPr b="0" i="0">
                <a:solidFill>
                  <a:srgbClr val="2F5597"/>
                </a:solidFill>
              </a:rPr>
              <a:t>•Trains and infers patchwise, requiring low compute and no large-FOV data</a:t>
            </a:r>
          </a:p>
          <a:p>
            <a:pPr algn="l">
              <a:defRPr sz="5400"/>
            </a:pPr>
            <a:r>
              <a:rPr b="0" i="0">
                <a:solidFill>
                  <a:srgbClr val="2F5597"/>
                </a:solidFill>
              </a:rPr>
              <a:t>•Disentangles global appearance, local structure, and texture for consistent, non-repetitive realism</a:t>
            </a:r>
          </a:p>
        </p:txBody>
      </p:sp>
      <p:sp>
        <p:nvSpPr>
          <p:cNvPr id="31" name="p_Abstract__t2"/>
          <p:cNvSpPr txBox="1"/>
          <p:nvPr/>
        </p:nvSpPr>
        <p:spPr>
          <a:xfrm>
            <a:off x="32826434" y="21841815"/>
            <a:ext cx="17758173" cy="654116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>
            <a:endParaRPr/>
          </a:p>
          <a:p>
            <a:pPr algn="l">
              <a:defRPr sz="5400"/>
            </a:pPr>
            <a:r>
              <a:rPr b="0" i="0">
                <a:solidFill>
                  <a:srgbClr val="2F5597"/>
                </a:solidFill>
              </a:rPr>
              <a:t>•Generates images with unprecedented spatial size and detail</a:t>
            </a:r>
          </a:p>
          <a:p>
            <a:pPr algn="l">
              <a:defRPr sz="5400"/>
            </a:pPr>
            <a:r>
              <a:rPr b="0" i="0">
                <a:solidFill>
                  <a:srgbClr val="2F5597"/>
                </a:solidFill>
              </a:rPr>
              <a:t>•Outperforms baselines in realism; supports parallelizable inference</a:t>
            </a:r>
          </a:p>
          <a:p>
            <a:pPr algn="l">
              <a:defRPr sz="5400"/>
            </a:pPr>
            <a:r>
              <a:rPr b="0" i="0">
                <a:solidFill>
                  <a:srgbClr val="2F5597"/>
                </a:solidFill>
              </a:rPr>
              <a:t>•Enables spatial style fusion, multimodal outpainting, and image inbetweening at arbitrary sizes</a:t>
            </a:r>
          </a:p>
        </p:txBody>
      </p:sp>
      <p:pic>
        <p:nvPicPr>
          <p:cNvPr id="32" name="p_3_PROPOSED_METHOD__f0" descr="e16019519ea118958bbc393aa9bea4808e1cefb080bb2d0f6c25663cc4736ad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3407" y="7326096"/>
            <a:ext cx="15727618" cy="5189826"/>
          </a:xfrm>
          <a:prstGeom prst="rect">
            <a:avLst/>
          </a:prstGeom>
        </p:spPr>
      </p:pic>
      <p:pic>
        <p:nvPicPr>
          <p:cNvPr id="33" name="p_4_EXPERIMENTAL_RESULTS__f0" descr="bc84c29c3f29e8ee8696a8017889f3e9fa7d115c6b7490a2057be22769893e3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757" y="21012138"/>
            <a:ext cx="15312236" cy="3461174"/>
          </a:xfrm>
          <a:prstGeom prst="rect">
            <a:avLst/>
          </a:prstGeom>
        </p:spPr>
      </p:pic>
      <p:pic>
        <p:nvPicPr>
          <p:cNvPr id="34" name="p_Abstract__f0" descr="a32840efe1128f6d01fe7b5d44f879ab8ec04e1cc73e9d8ce70f2308f4018a6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2251" y="14172107"/>
            <a:ext cx="14206539" cy="76697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429</Words>
  <Application>Microsoft Macintosh PowerPoint</Application>
  <PresentationFormat>自定义</PresentationFormat>
  <Paragraphs>69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T174421</cp:lastModifiedBy>
  <cp:revision>2</cp:revision>
  <dcterms:created xsi:type="dcterms:W3CDTF">2013-01-27T09:14:16Z</dcterms:created>
  <dcterms:modified xsi:type="dcterms:W3CDTF">2026-02-24T11:07:21Z</dcterms:modified>
  <cp:category/>
</cp:coreProperties>
</file>