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1206400" cy="2560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 snapToObjects="1">
      <p:cViewPr varScale="1">
        <p:scale>
          <a:sx n="20" d="100"/>
          <a:sy n="20" d="100"/>
        </p:scale>
        <p:origin x="400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r_Title"/>
          <p:cNvSpPr txBox="1"/>
          <p:nvPr/>
        </p:nvSpPr>
        <p:spPr>
          <a:xfrm>
            <a:off x="0" y="0"/>
            <a:ext cx="51206400" cy="256032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3" name="var_1_Introduction"/>
          <p:cNvSpPr txBox="1"/>
          <p:nvPr/>
        </p:nvSpPr>
        <p:spPr>
          <a:xfrm>
            <a:off x="0" y="2560320"/>
            <a:ext cx="13119524" cy="1432731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4" name="var_2_Related_work"/>
          <p:cNvSpPr txBox="1"/>
          <p:nvPr/>
        </p:nvSpPr>
        <p:spPr>
          <a:xfrm>
            <a:off x="0" y="16887634"/>
            <a:ext cx="13119524" cy="8715565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5" name="var_3_VideoComposer"/>
          <p:cNvSpPr txBox="1"/>
          <p:nvPr/>
        </p:nvSpPr>
        <p:spPr>
          <a:xfrm>
            <a:off x="13119524" y="2560320"/>
            <a:ext cx="17459210" cy="1732476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6" name="var_4_Experiments"/>
          <p:cNvSpPr txBox="1"/>
          <p:nvPr/>
        </p:nvSpPr>
        <p:spPr>
          <a:xfrm>
            <a:off x="30578734" y="2560320"/>
            <a:ext cx="20627665" cy="1732476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7" name="var_5_Conclusion"/>
          <p:cNvSpPr txBox="1"/>
          <p:nvPr/>
        </p:nvSpPr>
        <p:spPr>
          <a:xfrm>
            <a:off x="13119524" y="19885086"/>
            <a:ext cx="18219330" cy="5718113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8" name="var_Abstract"/>
          <p:cNvSpPr txBox="1"/>
          <p:nvPr/>
        </p:nvSpPr>
        <p:spPr>
          <a:xfrm>
            <a:off x="31338854" y="19885086"/>
            <a:ext cx="19867545" cy="5718113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9" name="p_Title__t0"/>
          <p:cNvSpPr txBox="1"/>
          <p:nvPr/>
        </p:nvSpPr>
        <p:spPr>
          <a:xfrm>
            <a:off x="109728" y="109728"/>
            <a:ext cx="50986944" cy="1040384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70000" lnSpcReduction="20000"/>
          </a:bodyPr>
          <a:lstStyle/>
          <a:p>
            <a:endParaRPr/>
          </a:p>
          <a:p>
            <a:pPr algn="ctr">
              <a:defRPr sz="8500"/>
            </a:pPr>
            <a:r>
              <a:rPr b="1" i="0">
                <a:solidFill>
                  <a:srgbClr val="FFFFFF"/>
                </a:solidFill>
              </a:rPr>
              <a:t>VideoComposer Compositional Video Synthesis with Motion Controllability</a:t>
            </a:r>
          </a:p>
        </p:txBody>
      </p:sp>
      <p:sp>
        <p:nvSpPr>
          <p:cNvPr id="10" name="p_Title__t1"/>
          <p:cNvSpPr txBox="1"/>
          <p:nvPr/>
        </p:nvSpPr>
        <p:spPr>
          <a:xfrm>
            <a:off x="109728" y="1150112"/>
            <a:ext cx="50986944" cy="1300480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rmAutofit fontScale="85000" lnSpcReduction="20000"/>
          </a:bodyPr>
          <a:lstStyle/>
          <a:p>
            <a:endParaRPr/>
          </a:p>
          <a:p>
            <a:pPr algn="ctr">
              <a:defRPr sz="4800"/>
            </a:pPr>
            <a:r>
              <a:rPr b="0" i="0">
                <a:solidFill>
                  <a:srgbClr val="FFFFFF"/>
                </a:solidFill>
              </a:rPr>
              <a:t>Xiang Wang¹⁎, Hangjie Yuan¹⁎, Shiwei Zhang¹⁎, Dayou Chen¹⁎, Jiuniu Wang¹, Yingya Zhang¹, Yujun Shen², Deli Zhao¹, Jingren Zhou¹</a:t>
            </a:r>
          </a:p>
          <a:p>
            <a:pPr algn="ctr">
              <a:defRPr sz="4400"/>
            </a:pPr>
            <a:r>
              <a:rPr b="0" i="0">
                <a:solidFill>
                  <a:srgbClr val="FFFFFF"/>
                </a:solidFill>
              </a:rPr>
              <a:t>¹ Alibaba Group; ² Ant Group</a:t>
            </a:r>
          </a:p>
        </p:txBody>
      </p:sp>
      <p:sp>
        <p:nvSpPr>
          <p:cNvPr id="11" name="p_1_Introduction__t0"/>
          <p:cNvSpPr txBox="1"/>
          <p:nvPr/>
        </p:nvSpPr>
        <p:spPr>
          <a:xfrm>
            <a:off x="109728" y="2670048"/>
            <a:ext cx="12900068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Introduction</a:t>
            </a:r>
          </a:p>
        </p:txBody>
      </p:sp>
      <p:sp>
        <p:nvSpPr>
          <p:cNvPr id="12" name="p_1_Introduction__t1"/>
          <p:cNvSpPr txBox="1"/>
          <p:nvPr/>
        </p:nvSpPr>
        <p:spPr>
          <a:xfrm>
            <a:off x="109728" y="3840480"/>
            <a:ext cx="12900068" cy="411883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•Propose VideoComposer for spatiotemporal controllable video synthesis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•Decompose videos into text, spatial, and temporal conditions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•Train a latent diffusion model to recompose conditioned videos</a:t>
            </a:r>
          </a:p>
        </p:txBody>
      </p:sp>
      <p:sp>
        <p:nvSpPr>
          <p:cNvPr id="13" name="p_1_Introduction__t2"/>
          <p:cNvSpPr txBox="1"/>
          <p:nvPr/>
        </p:nvSpPr>
        <p:spPr>
          <a:xfrm>
            <a:off x="109728" y="11488636"/>
            <a:ext cx="12900068" cy="528926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 video-specific motion vectors for direct dynamic control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•Present STC-encoder with cross-frame attention for temporal consistency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•Enable flexible multi-condition composition and hand-crafted motion control</a:t>
            </a:r>
          </a:p>
        </p:txBody>
      </p:sp>
      <p:sp>
        <p:nvSpPr>
          <p:cNvPr id="14" name="p_2_Related_work__t0"/>
          <p:cNvSpPr txBox="1"/>
          <p:nvPr/>
        </p:nvSpPr>
        <p:spPr>
          <a:xfrm>
            <a:off x="109728" y="16997362"/>
            <a:ext cx="12900068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Related Work</a:t>
            </a:r>
          </a:p>
        </p:txBody>
      </p:sp>
      <p:sp>
        <p:nvSpPr>
          <p:cNvPr id="15" name="p_2_Related_work__t1"/>
          <p:cNvSpPr txBox="1"/>
          <p:nvPr/>
        </p:nvSpPr>
        <p:spPr>
          <a:xfrm>
            <a:off x="109728" y="18167794"/>
            <a:ext cx="12900068" cy="73256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•Shift from GANs/VAEs/flows to diffusion for stability, quality, flexibility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•Text-to-image via pixel-space diffusion; guided by CLIP or classifier-free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•Imagen uses large language models to boost fidelity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•LDMs compress with autoencoder for efficient diffusion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•Editing: manipulate cross-attention, embeddings, or masks for text-driven edits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•ControlNet, T2I-Adapter, Composer expand control; video effectiveness remains unproven</a:t>
            </a:r>
          </a:p>
        </p:txBody>
      </p:sp>
      <p:sp>
        <p:nvSpPr>
          <p:cNvPr id="16" name="p_3_VideoComposer__t0"/>
          <p:cNvSpPr txBox="1"/>
          <p:nvPr/>
        </p:nvSpPr>
        <p:spPr>
          <a:xfrm>
            <a:off x="13229252" y="2670048"/>
            <a:ext cx="17239754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VideoComposer</a:t>
            </a:r>
          </a:p>
        </p:txBody>
      </p:sp>
      <p:sp>
        <p:nvSpPr>
          <p:cNvPr id="17" name="p_3_VideoComposer__t1"/>
          <p:cNvSpPr txBox="1"/>
          <p:nvPr/>
        </p:nvSpPr>
        <p:spPr>
          <a:xfrm>
            <a:off x="13229252" y="3840480"/>
            <a:ext cx="17239754" cy="373957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 VideoComposer for controllable, highly customized video synthesis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•STC encoder: 2D convs + temporal Transformer unify spatiotemporal conditions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•Leverage four temporal conditions: motion vectors, depth, masks, sketches</a:t>
            </a:r>
          </a:p>
        </p:txBody>
      </p:sp>
      <p:sp>
        <p:nvSpPr>
          <p:cNvPr id="18" name="p_3_VideoComposer__t2"/>
          <p:cNvSpPr txBox="1"/>
          <p:nvPr/>
        </p:nvSpPr>
        <p:spPr>
          <a:xfrm>
            <a:off x="13229252" y="14865347"/>
            <a:ext cx="17239754" cy="491001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•Align, fuse conditions; concatenate with latents; cross-attend text and style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•Optimize with two-stage training: text-to-video pretrain, compositional finetune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•Apply DDIM sampling with classifier-free guidance between condition sets</a:t>
            </a:r>
          </a:p>
        </p:txBody>
      </p:sp>
      <p:sp>
        <p:nvSpPr>
          <p:cNvPr id="19" name="p_4_Experiments__t0"/>
          <p:cNvSpPr txBox="1"/>
          <p:nvPr/>
        </p:nvSpPr>
        <p:spPr>
          <a:xfrm>
            <a:off x="30688462" y="2670048"/>
            <a:ext cx="2040820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Experiments</a:t>
            </a:r>
          </a:p>
        </p:txBody>
      </p:sp>
      <p:sp>
        <p:nvSpPr>
          <p:cNvPr id="20" name="p_4_Experiments__t1"/>
          <p:cNvSpPr txBox="1"/>
          <p:nvPr/>
        </p:nvSpPr>
        <p:spPr>
          <a:xfrm>
            <a:off x="30688462" y="3840480"/>
            <a:ext cx="20408209" cy="225063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85000"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•Demonstrates compositional control: image-to-video, inpainting, sketch-to-video.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•Combines depth, sketches, masks, style to strengthen structural control.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•Outperforms Text2Video-Zero and Gen-1 in controllability and appearance consistency.</a:t>
            </a:r>
          </a:p>
        </p:txBody>
      </p:sp>
      <p:sp>
        <p:nvSpPr>
          <p:cNvPr id="21" name="p_4_Experiments__t2"/>
          <p:cNvSpPr txBox="1"/>
          <p:nvPr/>
        </p:nvSpPr>
        <p:spPr>
          <a:xfrm>
            <a:off x="30688462" y="16354296"/>
            <a:ext cx="20408209" cy="342106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•Employs motion vectors for flexible, precise, user-guided motion control.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•STC-encoder boosts motion controllability and frame consistency across conditions.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•Quantitative gains: reduced motion error; metrics include CLIP and EPE.</a:t>
            </a:r>
          </a:p>
        </p:txBody>
      </p:sp>
      <p:sp>
        <p:nvSpPr>
          <p:cNvPr id="22" name="p_5_Conclusion__t0"/>
          <p:cNvSpPr txBox="1"/>
          <p:nvPr/>
        </p:nvSpPr>
        <p:spPr>
          <a:xfrm>
            <a:off x="13229252" y="19994814"/>
            <a:ext cx="17999874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Conclusion</a:t>
            </a:r>
          </a:p>
        </p:txBody>
      </p:sp>
      <p:sp>
        <p:nvSpPr>
          <p:cNvPr id="23" name="p_5_Conclusion__t1"/>
          <p:cNvSpPr txBox="1"/>
          <p:nvPr/>
        </p:nvSpPr>
        <p:spPr>
          <a:xfrm>
            <a:off x="13229252" y="21165246"/>
            <a:ext cx="17999874" cy="432822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 VideoComposer for compositional, controllable video synthesis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•Leverage temporal conditions, especially motion vectors, as control signals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•Design STC-encoder unifying spatial-temporal aggregation for inter-frame consistency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•Combine multiple conditions to boost controllability in experiments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•Demonstrate strong creativity and validate design choices empirically</a:t>
            </a:r>
          </a:p>
        </p:txBody>
      </p:sp>
      <p:sp>
        <p:nvSpPr>
          <p:cNvPr id="24" name="p_Abstract__t0"/>
          <p:cNvSpPr txBox="1"/>
          <p:nvPr/>
        </p:nvSpPr>
        <p:spPr>
          <a:xfrm>
            <a:off x="31448582" y="19994814"/>
            <a:ext cx="1964808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Abstract</a:t>
            </a:r>
          </a:p>
        </p:txBody>
      </p:sp>
      <p:sp>
        <p:nvSpPr>
          <p:cNvPr id="25" name="p_Abstract__t1"/>
          <p:cNvSpPr txBox="1"/>
          <p:nvPr/>
        </p:nvSpPr>
        <p:spPr>
          <a:xfrm>
            <a:off x="31448582" y="21165246"/>
            <a:ext cx="19648089" cy="432822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•Introduces VideoComposer for flexible compositional video control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•Enables text, spatial, and temporal conditioning in one framework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•Uses compressed-video motion vectors as explicit temporal control signals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•Proposes STC-encoder unifying spatio-temporal relations, boosting inter-frame consistency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•Supports diverse inputs: text, sketches, reference video, hand-crafted motions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•Releases code and models at videocomposer.github.io</a:t>
            </a:r>
          </a:p>
        </p:txBody>
      </p:sp>
      <p:pic>
        <p:nvPicPr>
          <p:cNvPr id="26" name="p_1_Introduction__f0" descr="e07ff1980bd2582524ab223fb8056af435ac870595a8dc066646e83b832e88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34" y="7959317"/>
            <a:ext cx="10320054" cy="3529318"/>
          </a:xfrm>
          <a:prstGeom prst="rect">
            <a:avLst/>
          </a:prstGeom>
        </p:spPr>
      </p:pic>
      <p:pic>
        <p:nvPicPr>
          <p:cNvPr id="27" name="p_3_VideoComposer__f0" descr="70847aeb5ba77245cde76ba1a4e6aceb391449cb8179565b0e097e8db6de24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227" y="7580059"/>
            <a:ext cx="13791803" cy="7285288"/>
          </a:xfrm>
          <a:prstGeom prst="rect">
            <a:avLst/>
          </a:prstGeom>
        </p:spPr>
      </p:pic>
      <p:pic>
        <p:nvPicPr>
          <p:cNvPr id="28" name="p_4_Experiments__f0" descr="c3c47068fd55bedc2eb062dfc5d78986dba5537f1993eec061bd6209e2a657d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4075" y="6091110"/>
            <a:ext cx="13876984" cy="102631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441</Words>
  <Application>Microsoft Macintosh PowerPoint</Application>
  <PresentationFormat>自定义</PresentationFormat>
  <Paragraphs>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T174421</cp:lastModifiedBy>
  <cp:revision>2</cp:revision>
  <dcterms:created xsi:type="dcterms:W3CDTF">2013-01-27T09:14:16Z</dcterms:created>
  <dcterms:modified xsi:type="dcterms:W3CDTF">2026-02-24T11:07:34Z</dcterms:modified>
  <cp:category/>
</cp:coreProperties>
</file>