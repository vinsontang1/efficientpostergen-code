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5207238" cy="31967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 snapToObjects="1">
      <p:cViewPr varScale="1">
        <p:scale>
          <a:sx n="23" d="100"/>
          <a:sy n="23" d="100"/>
        </p:scale>
        <p:origin x="376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r_Title"/>
          <p:cNvSpPr txBox="1"/>
          <p:nvPr/>
        </p:nvSpPr>
        <p:spPr>
          <a:xfrm>
            <a:off x="0" y="0"/>
            <a:ext cx="45207936" cy="319674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3" name="var_1_Introduction"/>
          <p:cNvSpPr txBox="1"/>
          <p:nvPr/>
        </p:nvSpPr>
        <p:spPr>
          <a:xfrm>
            <a:off x="0" y="3196742"/>
            <a:ext cx="15448388" cy="1477902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4" name="var_2_Related_Work"/>
          <p:cNvSpPr txBox="1"/>
          <p:nvPr/>
        </p:nvSpPr>
        <p:spPr>
          <a:xfrm>
            <a:off x="0" y="17975769"/>
            <a:ext cx="15448388" cy="6354419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5" name="var_3_Problem_Formulation"/>
          <p:cNvSpPr txBox="1"/>
          <p:nvPr/>
        </p:nvSpPr>
        <p:spPr>
          <a:xfrm>
            <a:off x="0" y="24330188"/>
            <a:ext cx="15448388" cy="7637235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6" name="var_4_Knowledge_Inclusive_Attention_Network"/>
          <p:cNvSpPr txBox="1"/>
          <p:nvPr/>
        </p:nvSpPr>
        <p:spPr>
          <a:xfrm>
            <a:off x="15448388" y="3196742"/>
            <a:ext cx="9905730" cy="2108176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7" name="var_5_Experiments"/>
          <p:cNvSpPr txBox="1"/>
          <p:nvPr/>
        </p:nvSpPr>
        <p:spPr>
          <a:xfrm>
            <a:off x="25354119" y="3196742"/>
            <a:ext cx="19853816" cy="2108176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8" name="var_6_Conclusion_and_Discussion"/>
          <p:cNvSpPr txBox="1"/>
          <p:nvPr/>
        </p:nvSpPr>
        <p:spPr>
          <a:xfrm>
            <a:off x="15448388" y="24278506"/>
            <a:ext cx="15724824" cy="7688917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9" name="var_Abstract"/>
          <p:cNvSpPr txBox="1"/>
          <p:nvPr/>
        </p:nvSpPr>
        <p:spPr>
          <a:xfrm>
            <a:off x="31173212" y="24278506"/>
            <a:ext cx="14034723" cy="7688917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10" name="p_Title__t0"/>
          <p:cNvSpPr txBox="1"/>
          <p:nvPr/>
        </p:nvSpPr>
        <p:spPr>
          <a:xfrm>
            <a:off x="109728" y="109728"/>
            <a:ext cx="44988480" cy="1323238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 dirty="0"/>
          </a:p>
          <a:p>
            <a:pPr algn="ctr">
              <a:defRPr sz="8500"/>
            </a:pPr>
            <a:r>
              <a:rPr b="1" i="0" dirty="0">
                <a:solidFill>
                  <a:srgbClr val="FFFFFF"/>
                </a:solidFill>
              </a:rPr>
              <a:t>Flexible Attention-Based Multi-Policy Fusion for Efficient Deep Reinforcement Le</a:t>
            </a:r>
          </a:p>
        </p:txBody>
      </p:sp>
      <p:sp>
        <p:nvSpPr>
          <p:cNvPr id="11" name="p_Title__t1"/>
          <p:cNvSpPr txBox="1"/>
          <p:nvPr/>
        </p:nvSpPr>
        <p:spPr>
          <a:xfrm>
            <a:off x="109728" y="1432966"/>
            <a:ext cx="44988480" cy="1654048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rmAutofit lnSpcReduction="10000"/>
          </a:bodyPr>
          <a:lstStyle/>
          <a:p>
            <a:endParaRPr dirty="0"/>
          </a:p>
          <a:p>
            <a:pPr algn="ctr">
              <a:defRPr sz="4800"/>
            </a:pPr>
            <a:r>
              <a:rPr b="0" i="0" dirty="0">
                <a:solidFill>
                  <a:srgbClr val="FFFFFF"/>
                </a:solidFill>
              </a:rPr>
              <a:t>Zih-Yun Chiu¹⁎, Yi-Lin Tuan²⁎, William Yang Wang², Michael C. Yip¹</a:t>
            </a:r>
          </a:p>
          <a:p>
            <a:pPr algn="ctr">
              <a:defRPr sz="4400"/>
            </a:pPr>
            <a:r>
              <a:rPr b="0" i="0" dirty="0">
                <a:solidFill>
                  <a:srgbClr val="FFFFFF"/>
                </a:solidFill>
              </a:rPr>
              <a:t>¹ University of California, San Diego; ² University of California, Santa Barbara</a:t>
            </a:r>
          </a:p>
        </p:txBody>
      </p:sp>
      <p:sp>
        <p:nvSpPr>
          <p:cNvPr id="12" name="p_1_Introduction__t0"/>
          <p:cNvSpPr txBox="1"/>
          <p:nvPr/>
        </p:nvSpPr>
        <p:spPr>
          <a:xfrm>
            <a:off x="109728" y="3306470"/>
            <a:ext cx="1522893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8000"/>
            </a:pPr>
            <a:r>
              <a:rPr b="1" i="0">
                <a:solidFill>
                  <a:srgbClr val="FFFFFF"/>
                </a:solidFill>
              </a:rPr>
              <a:t>▶ Introduction</a:t>
            </a:r>
          </a:p>
        </p:txBody>
      </p:sp>
      <p:sp>
        <p:nvSpPr>
          <p:cNvPr id="13" name="p_1_Introduction__t1"/>
          <p:cNvSpPr txBox="1"/>
          <p:nvPr/>
        </p:nvSpPr>
        <p:spPr>
          <a:xfrm>
            <a:off x="109728" y="4476902"/>
            <a:ext cx="15228932" cy="461124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 dirty="0"/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•Introduces KGRL with external policies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•Defines knowledge as state-action mappings for compositional learning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•Proposes KIAN actor for KGRL</a:t>
            </a:r>
          </a:p>
        </p:txBody>
      </p:sp>
      <p:sp>
        <p:nvSpPr>
          <p:cNvPr id="14" name="p_1_Introduction__t2"/>
          <p:cNvSpPr txBox="1"/>
          <p:nvPr/>
        </p:nvSpPr>
        <p:spPr>
          <a:xfrm>
            <a:off x="109728" y="12084364"/>
            <a:ext cx="15228932" cy="57816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 dirty="0"/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•Unifies policy embeddings; decouples fusion for plug-and-play updates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•Balances entropy via reweighted external-policy distributions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•Outperforms baselines in navigation/manipulation with better generalization</a:t>
            </a:r>
          </a:p>
        </p:txBody>
      </p:sp>
      <p:sp>
        <p:nvSpPr>
          <p:cNvPr id="15" name="p_2_Related_Work__t0"/>
          <p:cNvSpPr txBox="1"/>
          <p:nvPr/>
        </p:nvSpPr>
        <p:spPr>
          <a:xfrm>
            <a:off x="109728" y="18085497"/>
            <a:ext cx="1522893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Related Work</a:t>
            </a:r>
          </a:p>
        </p:txBody>
      </p:sp>
      <p:sp>
        <p:nvSpPr>
          <p:cNvPr id="16" name="p_2_Related_Work__t1"/>
          <p:cNvSpPr txBox="1"/>
          <p:nvPr/>
        </p:nvSpPr>
        <p:spPr>
          <a:xfrm>
            <a:off x="109728" y="19255929"/>
            <a:ext cx="15228932" cy="496453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 dirty="0"/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</a:t>
            </a:r>
            <a:r>
              <a:rPr b="0" i="0" dirty="0" err="1">
                <a:solidFill>
                  <a:srgbClr val="2F5597"/>
                </a:solidFill>
              </a:rPr>
              <a:t>KoGuN</a:t>
            </a:r>
            <a:r>
              <a:rPr b="0" i="0" dirty="0">
                <a:solidFill>
                  <a:srgbClr val="2F5597"/>
                </a:solidFill>
              </a:rPr>
              <a:t> constrains policy via fuzzy logic rules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•A2T fuses policies with attention and learnable internal policy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•KIAN enables incremental learning without retraining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•KIAN balances entropy for exploration—prior methods overlook this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•KGRL fuses policies step-by-step; HRL selects one per step</a:t>
            </a:r>
          </a:p>
        </p:txBody>
      </p:sp>
      <p:sp>
        <p:nvSpPr>
          <p:cNvPr id="17" name="p_3_Problem_Formulation__t0"/>
          <p:cNvSpPr txBox="1"/>
          <p:nvPr/>
        </p:nvSpPr>
        <p:spPr>
          <a:xfrm>
            <a:off x="109728" y="24439916"/>
            <a:ext cx="1522893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400"/>
            </a:pPr>
            <a:r>
              <a:rPr b="1" i="0">
                <a:solidFill>
                  <a:srgbClr val="FFFFFF"/>
                </a:solidFill>
              </a:rPr>
              <a:t>▶ Problem Formulation</a:t>
            </a:r>
          </a:p>
        </p:txBody>
      </p:sp>
      <p:sp>
        <p:nvSpPr>
          <p:cNvPr id="18" name="p_3_Problem_Formulation__t1"/>
          <p:cNvSpPr txBox="1"/>
          <p:nvPr/>
        </p:nvSpPr>
        <p:spPr>
          <a:xfrm>
            <a:off x="109728" y="25610348"/>
            <a:ext cx="15228932" cy="624734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85000" lnSpcReduction="20000"/>
          </a:bodyPr>
          <a:lstStyle/>
          <a:p>
            <a:endParaRPr dirty="0"/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•Introduces KGRL via external knowledge policies</a:t>
            </a:r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•Formalizes KGMDP: states, actions, transitions, rewards, discount, </a:t>
            </a:r>
            <a:r>
              <a:rPr b="0" i="0" dirty="0" err="1">
                <a:solidFill>
                  <a:srgbClr val="2F5597"/>
                </a:solidFill>
              </a:rPr>
              <a:t>init</a:t>
            </a:r>
            <a:r>
              <a:rPr b="0" i="0" dirty="0">
                <a:solidFill>
                  <a:srgbClr val="2F5597"/>
                </a:solidFill>
              </a:rPr>
              <a:t> </a:t>
            </a:r>
            <a:r>
              <a:rPr b="0" i="0" dirty="0" err="1">
                <a:solidFill>
                  <a:srgbClr val="2F5597"/>
                </a:solidFill>
              </a:rPr>
              <a:t>dist</a:t>
            </a:r>
            <a:r>
              <a:rPr b="0" i="0" dirty="0">
                <a:solidFill>
                  <a:srgbClr val="2F5597"/>
                </a:solidFill>
              </a:rPr>
              <a:t>, policies</a:t>
            </a:r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•Learns knowledge-conditioned policy to maximize expected return</a:t>
            </a:r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•External policies may misalign with MDP, lowering returns</a:t>
            </a:r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•Defines: knowledge-acquirable, sample-efficient, generalizable</a:t>
            </a:r>
          </a:p>
          <a:p>
            <a:pPr algn="l">
              <a:defRPr sz="5400"/>
            </a:pPr>
            <a:r>
              <a:rPr b="0" i="0" dirty="0">
                <a:solidFill>
                  <a:srgbClr val="2F5597"/>
                </a:solidFill>
              </a:rPr>
              <a:t>•Properties: compositional (policy union); incremental (growing knowledge)</a:t>
            </a:r>
          </a:p>
        </p:txBody>
      </p:sp>
      <p:sp>
        <p:nvSpPr>
          <p:cNvPr id="19" name="p_4_Knowledge_Inclusive_Attention_Network__t0"/>
          <p:cNvSpPr txBox="1"/>
          <p:nvPr/>
        </p:nvSpPr>
        <p:spPr>
          <a:xfrm>
            <a:off x="15558116" y="3306470"/>
            <a:ext cx="9686274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70000" lnSpcReduction="20000"/>
          </a:bodyPr>
          <a:lstStyle/>
          <a:p>
            <a:endParaRPr dirty="0"/>
          </a:p>
          <a:p>
            <a:pPr algn="l">
              <a:defRPr sz="7200"/>
            </a:pPr>
            <a:r>
              <a:rPr b="1" i="0" dirty="0">
                <a:solidFill>
                  <a:srgbClr val="FFFFFF"/>
                </a:solidFill>
              </a:rPr>
              <a:t>▶ Knowledge-Inclusive Attention</a:t>
            </a:r>
          </a:p>
        </p:txBody>
      </p:sp>
      <p:sp>
        <p:nvSpPr>
          <p:cNvPr id="20" name="p_4_Knowledge_Inclusive_Attention_Network__t1"/>
          <p:cNvSpPr txBox="1"/>
          <p:nvPr/>
        </p:nvSpPr>
        <p:spPr>
          <a:xfrm>
            <a:off x="15558116" y="4476902"/>
            <a:ext cx="9686274" cy="571093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200"/>
            </a:pPr>
            <a:r>
              <a:rPr b="0" i="0">
                <a:solidFill>
                  <a:srgbClr val="2F5597"/>
                </a:solidFill>
              </a:rPr>
              <a:t>•KIAN: KGRL actor integrating knowledge keys and query</a:t>
            </a:r>
          </a:p>
          <a:p>
            <a:pPr algn="l">
              <a:defRPr sz="5200"/>
            </a:pPr>
            <a:r>
              <a:rPr b="0" i="0">
                <a:solidFill>
                  <a:srgbClr val="2F5597"/>
                </a:solidFill>
              </a:rPr>
              <a:t>•End-to-end trainable with Gumbel-softmax action prediction</a:t>
            </a:r>
          </a:p>
        </p:txBody>
      </p:sp>
      <p:sp>
        <p:nvSpPr>
          <p:cNvPr id="21" name="p_4_Knowledge_Inclusive_Attention_Network__t2"/>
          <p:cNvSpPr txBox="1"/>
          <p:nvPr/>
        </p:nvSpPr>
        <p:spPr>
          <a:xfrm>
            <a:off x="15558116" y="17287413"/>
            <a:ext cx="9686274" cy="688136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 dirty="0"/>
          </a:p>
          <a:p>
            <a:pPr algn="l">
              <a:defRPr sz="5200"/>
            </a:pPr>
            <a:r>
              <a:rPr b="0" i="0" dirty="0">
                <a:solidFill>
                  <a:srgbClr val="2F5597"/>
                </a:solidFill>
              </a:rPr>
              <a:t>•Reveals entropy imbalance in KGRL via formal analysis</a:t>
            </a:r>
          </a:p>
          <a:p>
            <a:pPr algn="l">
              <a:defRPr sz="5200"/>
            </a:pPr>
            <a:r>
              <a:rPr b="0" i="0" dirty="0">
                <a:solidFill>
                  <a:srgbClr val="2F5597"/>
                </a:solidFill>
              </a:rPr>
              <a:t>•Attention favors high-entropy or internal policies</a:t>
            </a:r>
          </a:p>
          <a:p>
            <a:pPr algn="l">
              <a:defRPr sz="5200"/>
            </a:pPr>
            <a:r>
              <a:rPr b="0" i="0" dirty="0">
                <a:solidFill>
                  <a:srgbClr val="2F5597"/>
                </a:solidFill>
              </a:rPr>
              <a:t>•Mitigates bias via adjusted discrete/continuous policies</a:t>
            </a:r>
          </a:p>
        </p:txBody>
      </p:sp>
      <p:sp>
        <p:nvSpPr>
          <p:cNvPr id="22" name="p_5_Experiments__t0"/>
          <p:cNvSpPr txBox="1"/>
          <p:nvPr/>
        </p:nvSpPr>
        <p:spPr>
          <a:xfrm>
            <a:off x="25463847" y="3306470"/>
            <a:ext cx="19634360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8000"/>
            </a:pPr>
            <a:r>
              <a:rPr b="1" i="0">
                <a:solidFill>
                  <a:srgbClr val="FFFFFF"/>
                </a:solidFill>
              </a:rPr>
              <a:t>▶ Experiments</a:t>
            </a:r>
          </a:p>
        </p:txBody>
      </p:sp>
      <p:sp>
        <p:nvSpPr>
          <p:cNvPr id="23" name="p_5_Experiments__t1"/>
          <p:cNvSpPr txBox="1"/>
          <p:nvPr/>
        </p:nvSpPr>
        <p:spPr>
          <a:xfrm>
            <a:off x="25463847" y="4476902"/>
            <a:ext cx="19634360" cy="41554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•Evaluate KIAN on MiniGrid and OpenAI-Robotics with baselines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•All methods share identical, sub-optimal external knowledge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•KIAN consistently solves tasks; gains increase with task complexity</a:t>
            </a:r>
          </a:p>
        </p:txBody>
      </p:sp>
      <p:sp>
        <p:nvSpPr>
          <p:cNvPr id="24" name="p_5_Experiments__t2"/>
          <p:cNvSpPr txBox="1"/>
          <p:nvPr/>
        </p:nvSpPr>
        <p:spPr>
          <a:xfrm>
            <a:off x="25463847" y="18842914"/>
            <a:ext cx="19634360" cy="532586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 dirty="0"/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•KIAN fuses multiple external policies for efficient exploration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•KIAN shows superior generalization and reuses policies compositionally and incrementally</a:t>
            </a:r>
          </a:p>
          <a:p>
            <a:pPr algn="l">
              <a:defRPr sz="6000"/>
            </a:pPr>
            <a:r>
              <a:rPr b="0" i="0" dirty="0">
                <a:solidFill>
                  <a:srgbClr val="2F5597"/>
                </a:solidFill>
              </a:rPr>
              <a:t>•Ablation: fixing entropy imbalance improves performance; discrete tasks most sensitive</a:t>
            </a:r>
          </a:p>
        </p:txBody>
      </p:sp>
      <p:sp>
        <p:nvSpPr>
          <p:cNvPr id="25" name="p_6_Conclusion_and_Discussion__t0"/>
          <p:cNvSpPr txBox="1"/>
          <p:nvPr/>
        </p:nvSpPr>
        <p:spPr>
          <a:xfrm>
            <a:off x="15558116" y="24388234"/>
            <a:ext cx="15505368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Conclusion Discussion</a:t>
            </a:r>
          </a:p>
        </p:txBody>
      </p:sp>
      <p:sp>
        <p:nvSpPr>
          <p:cNvPr id="26" name="p_6_Conclusion_and_Discussion__t1"/>
          <p:cNvSpPr txBox="1"/>
          <p:nvPr/>
        </p:nvSpPr>
        <p:spPr>
          <a:xfrm>
            <a:off x="15558116" y="25558666"/>
            <a:ext cx="15505368" cy="62990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 dirty="0"/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•KGRL: efficient RL via external policies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•KIAN actor: fuses policies with attention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•Balances entropy for stable learning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•Outperforms in sample efficiency, generalization, and composition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•Performance drops with large irrelevant policy sets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•Enables cross-env querying via shared policy knowledge</a:t>
            </a:r>
          </a:p>
        </p:txBody>
      </p:sp>
      <p:sp>
        <p:nvSpPr>
          <p:cNvPr id="27" name="p_Abstract__t0"/>
          <p:cNvSpPr txBox="1"/>
          <p:nvPr/>
        </p:nvSpPr>
        <p:spPr>
          <a:xfrm>
            <a:off x="31282940" y="24388234"/>
            <a:ext cx="13815267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Abstract</a:t>
            </a:r>
          </a:p>
        </p:txBody>
      </p:sp>
      <p:sp>
        <p:nvSpPr>
          <p:cNvPr id="28" name="p_Abstract__t1"/>
          <p:cNvSpPr txBox="1"/>
          <p:nvPr/>
        </p:nvSpPr>
        <p:spPr>
          <a:xfrm>
            <a:off x="31282940" y="25558666"/>
            <a:ext cx="13815267" cy="62990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 dirty="0"/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•Introduces KGRL with multi-policy fusion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•Proposes KIAN actor for embedding-driven action prediction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•Enables flexible knowledge rearrangement for generalization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•Balances entropy via policy distributions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•Outperforms SOTA with efficient exploration</a:t>
            </a:r>
          </a:p>
          <a:p>
            <a:pPr algn="l">
              <a:defRPr sz="5000"/>
            </a:pPr>
            <a:r>
              <a:rPr b="0" i="0" dirty="0">
                <a:solidFill>
                  <a:srgbClr val="2F5597"/>
                </a:solidFill>
              </a:rPr>
              <a:t>•Open-source code available on GitHub</a:t>
            </a:r>
          </a:p>
        </p:txBody>
      </p:sp>
      <p:pic>
        <p:nvPicPr>
          <p:cNvPr id="29" name="p_1_Introduction__f0" descr="d3c6d8557b65ae2b96112953bfd4445e10a08711a19fc292d81f20e64ea872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21" y="9088147"/>
            <a:ext cx="12183146" cy="2996216"/>
          </a:xfrm>
          <a:prstGeom prst="rect">
            <a:avLst/>
          </a:prstGeom>
        </p:spPr>
      </p:pic>
      <p:pic>
        <p:nvPicPr>
          <p:cNvPr id="30" name="p_4_Knowledge_Inclusive_Attention_Network__f0" descr="bdd1f4ac883e80830020f73c869abf426667deb699b2d0f9b4e02314531d63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6744" y="10187835"/>
            <a:ext cx="7749019" cy="7099578"/>
          </a:xfrm>
          <a:prstGeom prst="rect">
            <a:avLst/>
          </a:prstGeom>
        </p:spPr>
      </p:pic>
      <p:pic>
        <p:nvPicPr>
          <p:cNvPr id="31" name="p_5_Experiments__f0" descr="21ef38686bcad813d7ac073904047f4310ea74ba9bffa37c51c9eccc42718a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7283" y="8632334"/>
            <a:ext cx="15707488" cy="102105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408</Words>
  <Application>Microsoft Macintosh PowerPoint</Application>
  <PresentationFormat>自定义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T174421</cp:lastModifiedBy>
  <cp:revision>2</cp:revision>
  <dcterms:created xsi:type="dcterms:W3CDTF">2013-01-27T09:14:16Z</dcterms:created>
  <dcterms:modified xsi:type="dcterms:W3CDTF">2026-02-24T11:06:44Z</dcterms:modified>
  <cp:category/>
</cp:coreProperties>
</file>