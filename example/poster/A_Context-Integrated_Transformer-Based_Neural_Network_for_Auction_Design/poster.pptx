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50693638" cy="28492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37"/>
  </p:normalViewPr>
  <p:slideViewPr>
    <p:cSldViewPr snapToGrid="0" snapToObjects="1">
      <p:cViewPr varScale="1">
        <p:scale>
          <a:sx n="21" d="100"/>
          <a:sy n="21" d="100"/>
        </p:scale>
        <p:origin x="208" y="6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r_Title"/>
          <p:cNvSpPr txBox="1"/>
          <p:nvPr/>
        </p:nvSpPr>
        <p:spPr>
          <a:xfrm>
            <a:off x="0" y="0"/>
            <a:ext cx="50694336" cy="2849270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3" name="var_1_Introduction"/>
          <p:cNvSpPr txBox="1"/>
          <p:nvPr/>
        </p:nvSpPr>
        <p:spPr>
          <a:xfrm>
            <a:off x="0" y="2849270"/>
            <a:ext cx="16673072" cy="6815380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4" name="var_2_2_Contextual_Auction_Design_as_a_Learning_Problem"/>
          <p:cNvSpPr txBox="1"/>
          <p:nvPr/>
        </p:nvSpPr>
        <p:spPr>
          <a:xfrm>
            <a:off x="16673072" y="2849270"/>
            <a:ext cx="18987563" cy="6815380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5" name="var_3_Model_Architecture"/>
          <p:cNvSpPr txBox="1"/>
          <p:nvPr/>
        </p:nvSpPr>
        <p:spPr>
          <a:xfrm>
            <a:off x="0" y="9664651"/>
            <a:ext cx="20410358" cy="18828052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6" name="var_4_Experiments"/>
          <p:cNvSpPr txBox="1"/>
          <p:nvPr/>
        </p:nvSpPr>
        <p:spPr>
          <a:xfrm>
            <a:off x="20410358" y="9664651"/>
            <a:ext cx="15250277" cy="18828052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7" name="var_5_Conclusion"/>
          <p:cNvSpPr txBox="1"/>
          <p:nvPr/>
        </p:nvSpPr>
        <p:spPr>
          <a:xfrm>
            <a:off x="35660636" y="2849270"/>
            <a:ext cx="15033699" cy="17207872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8" name="var_Abstract"/>
          <p:cNvSpPr txBox="1"/>
          <p:nvPr/>
        </p:nvSpPr>
        <p:spPr>
          <a:xfrm>
            <a:off x="35660636" y="20057143"/>
            <a:ext cx="15033699" cy="8435560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9" name="p_Title__t0"/>
          <p:cNvSpPr txBox="1"/>
          <p:nvPr/>
        </p:nvSpPr>
        <p:spPr>
          <a:xfrm>
            <a:off x="109728" y="109728"/>
            <a:ext cx="50474880" cy="1168806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77500" lnSpcReduction="20000"/>
          </a:bodyPr>
          <a:lstStyle/>
          <a:p>
            <a:endParaRPr/>
          </a:p>
          <a:p>
            <a:pPr algn="ctr">
              <a:defRPr sz="8500"/>
            </a:pPr>
            <a:r>
              <a:rPr b="1" i="0">
                <a:solidFill>
                  <a:srgbClr val="FFFFFF"/>
                </a:solidFill>
              </a:rPr>
              <a:t>A Context-Integrated Transformer-Based Neural Network for Auction Design</a:t>
            </a:r>
          </a:p>
        </p:txBody>
      </p:sp>
      <p:sp>
        <p:nvSpPr>
          <p:cNvPr id="10" name="p_Title__t1"/>
          <p:cNvSpPr txBox="1"/>
          <p:nvPr/>
        </p:nvSpPr>
        <p:spPr>
          <a:xfrm>
            <a:off x="109728" y="1278534"/>
            <a:ext cx="50474880" cy="1461008"/>
          </a:xfrm>
          <a:prstGeom prst="rect">
            <a:avLst/>
          </a:prstGeom>
          <a:solidFill>
            <a:srgbClr val="2F5597"/>
          </a:solidFill>
        </p:spPr>
        <p:txBody>
          <a:bodyPr wrap="square">
            <a:normAutofit fontScale="92500" lnSpcReduction="20000"/>
          </a:bodyPr>
          <a:lstStyle/>
          <a:p>
            <a:endParaRPr/>
          </a:p>
          <a:p>
            <a:pPr algn="ctr">
              <a:defRPr sz="4800"/>
            </a:pPr>
            <a:r>
              <a:rPr b="0" i="0">
                <a:solidFill>
                  <a:srgbClr val="FFFFFF"/>
                </a:solidFill>
              </a:rPr>
              <a:t>Zhijian Duan¹, Jingwu Tang¹, Yutong Yin¹, Zhe Feng², Xiang Yan³, Manzil Zaheer⁴, Xiaotie Deng¹</a:t>
            </a:r>
          </a:p>
          <a:p>
            <a:pPr algn="ctr">
              <a:defRPr sz="4400"/>
            </a:pPr>
            <a:r>
              <a:rPr b="0" i="0">
                <a:solidFill>
                  <a:srgbClr val="FFFFFF"/>
                </a:solidFill>
              </a:rPr>
              <a:t>¹ Peking University, Beijing, China; ² Google Research, Mountain View, US; ³ Google DeepMind, Mountain View, US; ⁴ Shanghai Jiao Tong University, Shanghai, China</a:t>
            </a:r>
          </a:p>
        </p:txBody>
      </p:sp>
      <p:sp>
        <p:nvSpPr>
          <p:cNvPr id="11" name="p_1_Introduction__t0"/>
          <p:cNvSpPr txBox="1"/>
          <p:nvPr/>
        </p:nvSpPr>
        <p:spPr>
          <a:xfrm>
            <a:off x="109728" y="2958998"/>
            <a:ext cx="16453616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000"/>
            </a:pPr>
            <a:r>
              <a:rPr b="1" i="0">
                <a:solidFill>
                  <a:srgbClr val="FFFFFF"/>
                </a:solidFill>
              </a:rPr>
              <a:t>▶ Introduction</a:t>
            </a:r>
          </a:p>
        </p:txBody>
      </p:sp>
      <p:sp>
        <p:nvSpPr>
          <p:cNvPr id="12" name="p_1_Introduction__t1"/>
          <p:cNvSpPr txBox="1"/>
          <p:nvPr/>
        </p:nvSpPr>
        <p:spPr>
          <a:xfrm>
            <a:off x="109728" y="4129430"/>
            <a:ext cx="16453616" cy="542549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fontScale="92500"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•Study contextual auctions with bidder and item context features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•Extend RegretNet to learn context-aware mechanisms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•Prove sample complexity bounds on mechanism generalization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•Introduce CTransNet, permutation-equivariant beyond symmetric auctions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•Target revenue-maximizing auctions in realistic multi-item settings</a:t>
            </a:r>
          </a:p>
        </p:txBody>
      </p:sp>
      <p:sp>
        <p:nvSpPr>
          <p:cNvPr id="13" name="p_2_2_Contextual_Auction_Design_as_a_Learning_Problem__t0"/>
          <p:cNvSpPr txBox="1"/>
          <p:nvPr/>
        </p:nvSpPr>
        <p:spPr>
          <a:xfrm>
            <a:off x="16782800" y="2958998"/>
            <a:ext cx="18768107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000"/>
            </a:pPr>
            <a:r>
              <a:rPr b="1" i="0">
                <a:solidFill>
                  <a:srgbClr val="FFFFFF"/>
                </a:solidFill>
              </a:rPr>
              <a:t>▶ Contextual Auction Learning</a:t>
            </a:r>
          </a:p>
        </p:txBody>
      </p:sp>
      <p:sp>
        <p:nvSpPr>
          <p:cNvPr id="14" name="p_2_2_Contextual_Auction_Design_as_a_Learning_Problem__t1"/>
          <p:cNvSpPr txBox="1"/>
          <p:nvPr/>
        </p:nvSpPr>
        <p:spPr>
          <a:xfrm>
            <a:off x="16782800" y="4129430"/>
            <a:ext cx="18768107" cy="542549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lnSpcReduction="10000"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•Formulates contextual auction design as supervised learning problem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•Defines ex-post regret; DSIC holds iff regret equals zero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•Parameterizes allocation and payment via shared-parameter mechanisms over contexts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•Optimizes revenue under DSIC and IR using empirical samples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•Derives generalization bounds via covering numbers for revenue and regret</a:t>
            </a:r>
          </a:p>
        </p:txBody>
      </p:sp>
      <p:sp>
        <p:nvSpPr>
          <p:cNvPr id="15" name="p_3_Model_Architecture__t0"/>
          <p:cNvSpPr txBox="1"/>
          <p:nvPr/>
        </p:nvSpPr>
        <p:spPr>
          <a:xfrm>
            <a:off x="109728" y="9774379"/>
            <a:ext cx="20190902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85000" lnSpcReduction="20000"/>
          </a:bodyPr>
          <a:lstStyle/>
          <a:p>
            <a:endParaRPr/>
          </a:p>
          <a:p>
            <a:pPr algn="l">
              <a:defRPr sz="7600"/>
            </a:pPr>
            <a:r>
              <a:rPr b="1" i="0">
                <a:solidFill>
                  <a:srgbClr val="FFFFFF"/>
                </a:solidFill>
              </a:rPr>
              <a:t>▶ Model Architecture</a:t>
            </a:r>
          </a:p>
        </p:txBody>
      </p:sp>
      <p:sp>
        <p:nvSpPr>
          <p:cNvPr id="16" name="p_3_Model_Architecture__t1"/>
          <p:cNvSpPr txBox="1"/>
          <p:nvPr/>
        </p:nvSpPr>
        <p:spPr>
          <a:xfrm>
            <a:off x="109728" y="10944811"/>
            <a:ext cx="20190902" cy="446721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>
            <a:endParaRPr/>
          </a:p>
          <a:p>
            <a:pPr algn="l">
              <a:defRPr sz="5600"/>
            </a:pPr>
            <a:r>
              <a:rPr b="0" i="0">
                <a:solidFill>
                  <a:srgbClr val="2F5597"/>
                </a:solidFill>
              </a:rPr>
              <a:t>•Propose CITRansNet for allocation and payment with contextual signals</a:t>
            </a:r>
          </a:p>
          <a:p>
            <a:pPr algn="l">
              <a:defRPr sz="5600"/>
            </a:pPr>
            <a:r>
              <a:rPr b="0" i="0">
                <a:solidFill>
                  <a:srgbClr val="2F5597"/>
                </a:solidFill>
              </a:rPr>
              <a:t>•Embed each bidder-item pair using bid, bidder context, item context</a:t>
            </a:r>
          </a:p>
        </p:txBody>
      </p:sp>
      <p:sp>
        <p:nvSpPr>
          <p:cNvPr id="17" name="p_3_Model_Architecture__t2"/>
          <p:cNvSpPr txBox="1"/>
          <p:nvPr/>
        </p:nvSpPr>
        <p:spPr>
          <a:xfrm>
            <a:off x="109728" y="22745331"/>
            <a:ext cx="20190902" cy="563764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>
            <a:endParaRPr/>
          </a:p>
          <a:p>
            <a:pPr algn="l">
              <a:defRPr sz="5600"/>
            </a:pPr>
            <a:r>
              <a:rPr b="0" i="0">
                <a:solidFill>
                  <a:srgbClr val="2F5597"/>
                </a:solidFill>
              </a:rPr>
              <a:t>•Use transformer interaction layer with multi-head self-attention</a:t>
            </a:r>
          </a:p>
          <a:p>
            <a:pPr algn="l">
              <a:defRPr sz="5600"/>
            </a:pPr>
            <a:r>
              <a:rPr b="0" i="0">
                <a:solidFill>
                  <a:srgbClr val="2F5597"/>
                </a:solidFill>
              </a:rPr>
              <a:t>•Preserve bidder/item permutation equivariance via per-pair 1x1 convolutions</a:t>
            </a:r>
          </a:p>
          <a:p>
            <a:pPr algn="l">
              <a:defRPr sz="5600"/>
            </a:pPr>
            <a:r>
              <a:rPr b="0" i="0">
                <a:solidFill>
                  <a:srgbClr val="2F5597"/>
                </a:solidFill>
              </a:rPr>
              <a:t>•Capture higher-order interactions across pairs for improved mechanism design</a:t>
            </a:r>
          </a:p>
        </p:txBody>
      </p:sp>
      <p:sp>
        <p:nvSpPr>
          <p:cNvPr id="18" name="p_4_Experiments__t0"/>
          <p:cNvSpPr txBox="1"/>
          <p:nvPr/>
        </p:nvSpPr>
        <p:spPr>
          <a:xfrm>
            <a:off x="20520086" y="9774379"/>
            <a:ext cx="15030821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000"/>
            </a:pPr>
            <a:r>
              <a:rPr b="1" i="0">
                <a:solidFill>
                  <a:srgbClr val="FFFFFF"/>
                </a:solidFill>
              </a:rPr>
              <a:t>▶ Experiments</a:t>
            </a:r>
          </a:p>
        </p:txBody>
      </p:sp>
      <p:sp>
        <p:nvSpPr>
          <p:cNvPr id="19" name="p_4_Experiments__t1"/>
          <p:cNvSpPr txBox="1"/>
          <p:nvPr/>
        </p:nvSpPr>
        <p:spPr>
          <a:xfrm>
            <a:off x="20520086" y="10944811"/>
            <a:ext cx="15030821" cy="577383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•CITransNet achieves best revenue across settings D–I with low regret.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•Context-integrated models recover Myerson-optimal solutions; non-context fail.</a:t>
            </a:r>
          </a:p>
        </p:txBody>
      </p:sp>
      <p:sp>
        <p:nvSpPr>
          <p:cNvPr id="20" name="p_4_Experiments__t2"/>
          <p:cNvSpPr txBox="1"/>
          <p:nvPr/>
        </p:nvSpPr>
        <p:spPr>
          <a:xfrm>
            <a:off x="20520086" y="21438713"/>
            <a:ext cx="15030821" cy="694426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•Transformer-based interaction captures bidder–item influence, driving gains.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•Permutation-equivariance boosts large-scale auction performance.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•Demonstrates out-of-setting generalization across bidders and items.</a:t>
            </a:r>
          </a:p>
        </p:txBody>
      </p:sp>
      <p:sp>
        <p:nvSpPr>
          <p:cNvPr id="21" name="p_5_Conclusion__t0"/>
          <p:cNvSpPr txBox="1"/>
          <p:nvPr/>
        </p:nvSpPr>
        <p:spPr>
          <a:xfrm>
            <a:off x="35770364" y="2958998"/>
            <a:ext cx="14814243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85000" lnSpcReduction="20000"/>
          </a:bodyPr>
          <a:lstStyle/>
          <a:p>
            <a:endParaRPr/>
          </a:p>
          <a:p>
            <a:pPr algn="l">
              <a:defRPr sz="7600"/>
            </a:pPr>
            <a:r>
              <a:rPr b="1" i="0">
                <a:solidFill>
                  <a:srgbClr val="FFFFFF"/>
                </a:solidFill>
              </a:rPr>
              <a:t>▶ Conclusion</a:t>
            </a:r>
          </a:p>
        </p:txBody>
      </p:sp>
      <p:sp>
        <p:nvSpPr>
          <p:cNvPr id="22" name="p_5_Conclusion__t1"/>
          <p:cNvSpPr txBox="1"/>
          <p:nvPr/>
        </p:nvSpPr>
        <p:spPr>
          <a:xfrm>
            <a:off x="35770364" y="4129430"/>
            <a:ext cx="14814243" cy="618217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>
            <a:endParaRPr/>
          </a:p>
          <a:p>
            <a:pPr algn="l">
              <a:defRPr sz="5600"/>
            </a:pPr>
            <a:r>
              <a:rPr b="0" i="0">
                <a:solidFill>
                  <a:srgbClr val="2F5597"/>
                </a:solidFill>
              </a:rPr>
              <a:t>•Introduces CITransNet, a transformer architecture for contextual auction design</a:t>
            </a:r>
          </a:p>
          <a:p>
            <a:pPr algn="l">
              <a:defRPr sz="5600"/>
            </a:pPr>
            <a:r>
              <a:rPr b="0" i="0">
                <a:solidFill>
                  <a:srgbClr val="2F5597"/>
                </a:solidFill>
              </a:rPr>
              <a:t>•Ensures permutation equivariance to bids and contexts; handles asymmetric information</a:t>
            </a:r>
          </a:p>
        </p:txBody>
      </p:sp>
      <p:sp>
        <p:nvSpPr>
          <p:cNvPr id="23" name="p_5_Conclusion__t2"/>
          <p:cNvSpPr txBox="1"/>
          <p:nvPr/>
        </p:nvSpPr>
        <p:spPr>
          <a:xfrm>
            <a:off x="35770364" y="12594810"/>
            <a:ext cx="14814243" cy="735260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>
            <a:endParaRPr/>
          </a:p>
          <a:p>
            <a:pPr algn="l">
              <a:defRPr sz="5600"/>
            </a:pPr>
            <a:r>
              <a:rPr b="0" i="0">
                <a:solidFill>
                  <a:srgbClr val="2F5597"/>
                </a:solidFill>
              </a:rPr>
              <a:t>•Recovers optimal analytical solutions in simple auctions via experiments</a:t>
            </a:r>
          </a:p>
          <a:p>
            <a:pPr algn="l">
              <a:defRPr sz="5600"/>
            </a:pPr>
            <a:r>
              <a:rPr b="0" i="0">
                <a:solidFill>
                  <a:srgbClr val="2F5597"/>
                </a:solidFill>
              </a:rPr>
              <a:t>•Demonstrates effective interaction layers versus context-integrated RegretNet and EquivariantNet</a:t>
            </a:r>
          </a:p>
          <a:p>
            <a:pPr algn="l">
              <a:defRPr sz="5600"/>
            </a:pPr>
            <a:r>
              <a:rPr b="0" i="0">
                <a:solidFill>
                  <a:srgbClr val="2F5597"/>
                </a:solidFill>
              </a:rPr>
              <a:t>•Generalizes across bidder/item counts; next: industry-scale and online tests</a:t>
            </a:r>
          </a:p>
        </p:txBody>
      </p:sp>
      <p:sp>
        <p:nvSpPr>
          <p:cNvPr id="24" name="p_Abstract__t0"/>
          <p:cNvSpPr txBox="1"/>
          <p:nvPr/>
        </p:nvSpPr>
        <p:spPr>
          <a:xfrm>
            <a:off x="35770364" y="20166871"/>
            <a:ext cx="14814243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000"/>
            </a:pPr>
            <a:r>
              <a:rPr b="1" i="0">
                <a:solidFill>
                  <a:srgbClr val="FFFFFF"/>
                </a:solidFill>
              </a:rPr>
              <a:t>▶ Abstract</a:t>
            </a:r>
          </a:p>
        </p:txBody>
      </p:sp>
      <p:sp>
        <p:nvSpPr>
          <p:cNvPr id="25" name="p_Abstract__t1"/>
          <p:cNvSpPr txBox="1"/>
          <p:nvPr/>
        </p:nvSpPr>
        <p:spPr>
          <a:xfrm>
            <a:off x="35770364" y="21337303"/>
            <a:ext cx="14814243" cy="704567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fontScale="92500" lnSpcReduction="10000"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•Introduces CITransNet: context-integrated transformer for optimal auction design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•Encodes public bidder and item contexts within learning framework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•Enforces permutation equivariance over bids and contexts; supports asymmetric mechanisms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•Recovers known optima in single-item auctions via experiments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•Outperforms baselines and generalizes beyond training in multi-item settings</a:t>
            </a:r>
          </a:p>
        </p:txBody>
      </p:sp>
      <p:pic>
        <p:nvPicPr>
          <p:cNvPr id="26" name="p_3_Model_Architecture__f0" descr="d67237af5f5d9d27e4c4695d2ebdef6df612870fa62016a07a9f8446d88d99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818" y="15412023"/>
            <a:ext cx="16152722" cy="7333308"/>
          </a:xfrm>
          <a:prstGeom prst="rect">
            <a:avLst/>
          </a:prstGeom>
        </p:spPr>
      </p:pic>
      <p:pic>
        <p:nvPicPr>
          <p:cNvPr id="27" name="p_4_Experiments__f0" descr="62ec71c832b55f5bb408fba2f89ddc46b080e3df1236c45fb0c950e5845412a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3168" y="16718641"/>
            <a:ext cx="12024657" cy="4720072"/>
          </a:xfrm>
          <a:prstGeom prst="rect">
            <a:avLst/>
          </a:prstGeom>
        </p:spPr>
      </p:pic>
      <p:pic>
        <p:nvPicPr>
          <p:cNvPr id="28" name="p_5_Conclusion__f0" descr="3aa570571d3e99ad8f30f311285b8aaed76eda8a90c2e1d2df9f08c5d493852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51788" y="10311602"/>
            <a:ext cx="11851395" cy="22832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383</Words>
  <Application>Microsoft Macintosh PowerPoint</Application>
  <PresentationFormat>自定义</PresentationFormat>
  <Paragraphs>56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T174421</cp:lastModifiedBy>
  <cp:revision>2</cp:revision>
  <dcterms:created xsi:type="dcterms:W3CDTF">2013-01-27T09:14:16Z</dcterms:created>
  <dcterms:modified xsi:type="dcterms:W3CDTF">2026-02-24T11:07:00Z</dcterms:modified>
  <cp:category/>
</cp:coreProperties>
</file>